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0920" autoAdjust="0"/>
    <p:restoredTop sz="94660"/>
  </p:normalViewPr>
  <p:slideViewPr>
    <p:cSldViewPr snapToGrid="0" snapToObjects="1">
      <p:cViewPr varScale="1">
        <p:scale>
          <a:sx n="76" d="100"/>
          <a:sy n="76" d="100"/>
        </p:scale>
        <p:origin x="452" y="4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D503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9262872" y="0"/>
            <a:ext cx="2926080" cy="6858000"/>
          </a:xfrm>
          <a:prstGeom prst="rect">
            <a:avLst/>
          </a:prstGeom>
          <a:solidFill>
            <a:srgbClr val="245F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F2EC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57200" y="0"/>
            <a:ext cx="36576" cy="6858000"/>
          </a:xfrm>
          <a:prstGeom prst="rect">
            <a:avLst/>
          </a:prstGeom>
          <a:solidFill>
            <a:srgbClr val="DDD8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93776" y="0"/>
            <a:ext cx="8769096" cy="50292"/>
          </a:xfrm>
          <a:prstGeom prst="rect">
            <a:avLst/>
          </a:prstGeom>
          <a:solidFill>
            <a:srgbClr val="1A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18288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8A49C"/>
                </a:solidFill>
                <a:latin typeface="Calibri"/>
              </a:rPr>
              <a:t>ENTERPRISE AI APPLICATION  · 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005840"/>
            <a:ext cx="77724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0" b="1" i="0">
                <a:solidFill>
                  <a:srgbClr val="FFFFFF"/>
                </a:solidFill>
                <a:latin typeface="Calibri"/>
              </a:rPr>
              <a:t>AI Knowledge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057400"/>
            <a:ext cx="777240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0" b="1" i="0">
                <a:solidFill>
                  <a:srgbClr val="F2ECE0"/>
                </a:solidFill>
                <a:latin typeface="Calibri"/>
              </a:rPr>
              <a:t>Assistant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3246120"/>
            <a:ext cx="4114800" cy="36576"/>
          </a:xfrm>
          <a:prstGeom prst="rect">
            <a:avLst/>
          </a:prstGeom>
          <a:solidFill>
            <a:srgbClr val="F2EC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3401568"/>
            <a:ext cx="8686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F2ECE0"/>
                </a:solidFill>
                <a:latin typeface="Calibri"/>
              </a:rPr>
              <a:t>Enterprise RAG-Powered Document Q&amp;A System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005072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8A49C"/>
                </a:solidFill>
                <a:latin typeface="Calibri"/>
              </a:rPr>
              <a:t>Upload documents  ·  Ask questions  ·  Get cited, grounded answers in seconds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4709160"/>
            <a:ext cx="1691640" cy="365760"/>
          </a:xfrm>
          <a:prstGeom prst="roundRect">
            <a:avLst>
              <a:gd name="adj" fmla="val 6000"/>
            </a:avLst>
          </a:prstGeom>
          <a:solidFill>
            <a:srgbClr val="1A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F2ECE0"/>
                </a:solidFill>
                <a:latin typeface="Calibri"/>
              </a:rPr>
              <a:t>FastAPI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514600" y="4709160"/>
            <a:ext cx="1691640" cy="365760"/>
          </a:xfrm>
          <a:prstGeom prst="roundRect">
            <a:avLst>
              <a:gd name="adj" fmla="val 6000"/>
            </a:avLst>
          </a:prstGeom>
          <a:solidFill>
            <a:srgbClr val="1A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F2ECE0"/>
                </a:solidFill>
                <a:latin typeface="Calibri"/>
              </a:rPr>
              <a:t>ChromaDB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43400" y="4709160"/>
            <a:ext cx="1691640" cy="365760"/>
          </a:xfrm>
          <a:prstGeom prst="roundRect">
            <a:avLst>
              <a:gd name="adj" fmla="val 6000"/>
            </a:avLst>
          </a:prstGeom>
          <a:solidFill>
            <a:srgbClr val="1A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F2ECE0"/>
                </a:solidFill>
                <a:latin typeface="Calibri"/>
              </a:rPr>
              <a:t>Groq LLM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4709160"/>
            <a:ext cx="1691640" cy="365760"/>
          </a:xfrm>
          <a:prstGeom prst="roundRect">
            <a:avLst>
              <a:gd name="adj" fmla="val 6000"/>
            </a:avLst>
          </a:prstGeom>
          <a:solidFill>
            <a:srgbClr val="1A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F2ECE0"/>
                </a:solidFill>
                <a:latin typeface="Calibri"/>
              </a:rPr>
              <a:t>Next.js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01000" y="4709160"/>
            <a:ext cx="1691640" cy="365760"/>
          </a:xfrm>
          <a:prstGeom prst="roundRect">
            <a:avLst>
              <a:gd name="adj" fmla="val 6000"/>
            </a:avLst>
          </a:prstGeom>
          <a:solidFill>
            <a:srgbClr val="1A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F2ECE0"/>
                </a:solidFill>
                <a:latin typeface="Calibri"/>
              </a:rPr>
              <a:t>Docker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2636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8A49C"/>
                </a:solidFill>
                <a:latin typeface="Calibri"/>
              </a:rPr>
              <a:t>Vivek Pramanik  ·  May 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37192" y="2011680"/>
            <a:ext cx="23774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 i="0">
                <a:solidFill>
                  <a:srgbClr val="E8F0EB"/>
                </a:solidFill>
                <a:latin typeface="Calibri"/>
              </a:rPr>
              <a:t>RAG
Pipeline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45752" y="393192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E8F0EB"/>
                </a:solidFill>
                <a:latin typeface="Calibri"/>
              </a:rPr>
              <a:t>Vector · BM25 · Cross-Encoder · LLM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EC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D5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DDD8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8A49C"/>
                </a:solidFill>
                <a:latin typeface="Calibri"/>
              </a:rPr>
              <a:t>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29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D5037"/>
                </a:solidFill>
                <a:latin typeface="Calibri"/>
              </a:rPr>
              <a:t>What We'll Cover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07008"/>
            <a:ext cx="10058400" cy="27432"/>
          </a:xfrm>
          <a:prstGeom prst="rect">
            <a:avLst/>
          </a:prstGeom>
          <a:solidFill>
            <a:srgbClr val="DDD8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594360" y="1463040"/>
            <a:ext cx="548640" cy="548640"/>
          </a:xfrm>
          <a:prstGeom prst="roundRect">
            <a:avLst>
              <a:gd name="adj" fmla="val 6000"/>
            </a:avLst>
          </a:prstGeom>
          <a:solidFill>
            <a:srgbClr val="1D5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1481328"/>
            <a:ext cx="4754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A1A18"/>
                </a:solidFill>
                <a:latin typeface="Calibri"/>
              </a:rPr>
              <a:t>Problem Statement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1810512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6860"/>
                </a:solidFill>
                <a:latin typeface="Calibri"/>
              </a:rPr>
              <a:t>Why enterprises struggle with document search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2926080"/>
            <a:ext cx="548640" cy="548640"/>
          </a:xfrm>
          <a:prstGeom prst="roundRect">
            <a:avLst>
              <a:gd name="adj" fmla="val 6000"/>
            </a:avLst>
          </a:prstGeom>
          <a:solidFill>
            <a:srgbClr val="1D5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2944368"/>
            <a:ext cx="4754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A1A18"/>
                </a:solidFill>
                <a:latin typeface="Calibri"/>
              </a:rPr>
              <a:t>Solution &amp; Architecture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3273552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6860"/>
                </a:solidFill>
                <a:latin typeface="Calibri"/>
              </a:rPr>
              <a:t>How the RAG pipeline solves it end-to-end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4389120"/>
            <a:ext cx="548640" cy="548640"/>
          </a:xfrm>
          <a:prstGeom prst="roundRect">
            <a:avLst>
              <a:gd name="adj" fmla="val 6000"/>
            </a:avLst>
          </a:prstGeom>
          <a:solidFill>
            <a:srgbClr val="1D5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4407408"/>
            <a:ext cx="4754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A1A18"/>
                </a:solidFill>
                <a:latin typeface="Calibri"/>
              </a:rPr>
              <a:t>Hybrid Retrieval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4736592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6860"/>
                </a:solidFill>
                <a:latin typeface="Calibri"/>
              </a:rPr>
              <a:t>Bi-Encoder + BM25 + RRF + Cross-Encoder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92240" y="1463040"/>
            <a:ext cx="548640" cy="548640"/>
          </a:xfrm>
          <a:prstGeom prst="roundRect">
            <a:avLst>
              <a:gd name="adj" fmla="val 6000"/>
            </a:avLst>
          </a:prstGeom>
          <a:solidFill>
            <a:srgbClr val="1A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78040" y="1481328"/>
            <a:ext cx="4754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A1A18"/>
                </a:solidFill>
                <a:latin typeface="Calibri"/>
              </a:rPr>
              <a:t>Key Features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78040" y="1810512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6860"/>
                </a:solidFill>
                <a:latin typeface="Calibri"/>
              </a:rPr>
              <a:t>13 production-grade capabilities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92240" y="2926080"/>
            <a:ext cx="548640" cy="548640"/>
          </a:xfrm>
          <a:prstGeom prst="roundRect">
            <a:avLst>
              <a:gd name="adj" fmla="val 6000"/>
            </a:avLst>
          </a:prstGeom>
          <a:solidFill>
            <a:srgbClr val="1A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05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78040" y="2944368"/>
            <a:ext cx="4754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A1A18"/>
                </a:solidFill>
                <a:latin typeface="Calibri"/>
              </a:rPr>
              <a:t>Tech Stack &amp; API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78040" y="3273552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6860"/>
                </a:solidFill>
                <a:latin typeface="Calibri"/>
              </a:rPr>
              <a:t>Libraries, endpoints, and deployment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92240" y="4389120"/>
            <a:ext cx="548640" cy="548640"/>
          </a:xfrm>
          <a:prstGeom prst="roundRect">
            <a:avLst>
              <a:gd name="adj" fmla="val 6000"/>
            </a:avLst>
          </a:prstGeom>
          <a:solidFill>
            <a:srgbClr val="1A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06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78040" y="4407408"/>
            <a:ext cx="4754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A1A18"/>
                </a:solidFill>
                <a:latin typeface="Calibri"/>
              </a:rPr>
              <a:t>Evaluation &amp; Security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78040" y="4736592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6860"/>
                </a:solidFill>
                <a:latin typeface="Calibri"/>
              </a:rPr>
              <a:t>Metrics, PII redaction, and audit logging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35040" y="1463040"/>
            <a:ext cx="27432" cy="5029200"/>
          </a:xfrm>
          <a:prstGeom prst="rect">
            <a:avLst/>
          </a:prstGeom>
          <a:solidFill>
            <a:srgbClr val="DDD8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EC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A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DDD8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3D5C"/>
                </a:solidFill>
                <a:latin typeface="Calibri"/>
              </a:rPr>
              <a:t>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29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A3D5C"/>
                </a:solidFill>
                <a:latin typeface="Calibri"/>
              </a:rPr>
              <a:t>Why Document Search Fails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07008"/>
            <a:ext cx="10698480" cy="27432"/>
          </a:xfrm>
          <a:prstGeom prst="rect">
            <a:avLst/>
          </a:prstGeom>
          <a:solidFill>
            <a:srgbClr val="DDD8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594360" y="1417320"/>
            <a:ext cx="5394960" cy="1371600"/>
          </a:xfrm>
          <a:prstGeom prst="roundRect">
            <a:avLst>
              <a:gd name="adj" fmla="val 6000"/>
            </a:avLst>
          </a:prstGeom>
          <a:solidFill>
            <a:srgbClr val="FAF7F0"/>
          </a:solidFill>
          <a:ln w="12700">
            <a:solidFill>
              <a:srgbClr val="DDD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94360" y="1417320"/>
            <a:ext cx="73152" cy="1371600"/>
          </a:xfrm>
          <a:prstGeom prst="rect">
            <a:avLst/>
          </a:prstGeom>
          <a:solidFill>
            <a:srgbClr val="CC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1527048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18"/>
                </a:solidFill>
                <a:latin typeface="Calibri"/>
              </a:rPr>
              <a:t>Manual Search Overload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874520"/>
            <a:ext cx="50292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6860"/>
                </a:solidFill>
                <a:latin typeface="Calibri"/>
              </a:rPr>
              <a:t>Employees waste hours scanning hundreds of PDFs, SOPs, and policy docs to find one answer.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4360" y="2971800"/>
            <a:ext cx="5394960" cy="1371600"/>
          </a:xfrm>
          <a:prstGeom prst="roundRect">
            <a:avLst>
              <a:gd name="adj" fmla="val 6000"/>
            </a:avLst>
          </a:prstGeom>
          <a:solidFill>
            <a:srgbClr val="FAF7F0"/>
          </a:solidFill>
          <a:ln w="12700">
            <a:solidFill>
              <a:srgbClr val="DDD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94360" y="2971800"/>
            <a:ext cx="73152" cy="1371600"/>
          </a:xfrm>
          <a:prstGeom prst="rect">
            <a:avLst/>
          </a:prstGeom>
          <a:solidFill>
            <a:srgbClr val="CC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77240" y="3081528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18"/>
                </a:solidFill>
                <a:latin typeface="Calibri"/>
              </a:rPr>
              <a:t>Keyword Search is Insufficient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429000"/>
            <a:ext cx="50292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6860"/>
                </a:solidFill>
                <a:latin typeface="Calibri"/>
              </a:rPr>
              <a:t>Traditional search returns irrelevant noise and misses semantic meaning entirely.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4360" y="4526280"/>
            <a:ext cx="5394960" cy="1371600"/>
          </a:xfrm>
          <a:prstGeom prst="roundRect">
            <a:avLst>
              <a:gd name="adj" fmla="val 6000"/>
            </a:avLst>
          </a:prstGeom>
          <a:solidFill>
            <a:srgbClr val="FAF7F0"/>
          </a:solidFill>
          <a:ln w="12700">
            <a:solidFill>
              <a:srgbClr val="DDD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594360" y="4526280"/>
            <a:ext cx="73152" cy="1371600"/>
          </a:xfrm>
          <a:prstGeom prst="rect">
            <a:avLst/>
          </a:prstGeom>
          <a:solidFill>
            <a:srgbClr val="CC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77240" y="4636008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18"/>
                </a:solidFill>
                <a:latin typeface="Calibri"/>
              </a:rPr>
              <a:t>Public LLMs Lack Private Data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983480"/>
            <a:ext cx="50292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6860"/>
                </a:solidFill>
                <a:latin typeface="Calibri"/>
              </a:rPr>
              <a:t>ChatGPT and similar tools have no access to internal company documents or proprietary data.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37960" y="1417320"/>
            <a:ext cx="5394960" cy="1371600"/>
          </a:xfrm>
          <a:prstGeom prst="roundRect">
            <a:avLst>
              <a:gd name="adj" fmla="val 6000"/>
            </a:avLst>
          </a:prstGeom>
          <a:solidFill>
            <a:srgbClr val="FAF7F0"/>
          </a:solidFill>
          <a:ln w="12700">
            <a:solidFill>
              <a:srgbClr val="DDD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537960" y="1417320"/>
            <a:ext cx="73152" cy="1371600"/>
          </a:xfrm>
          <a:prstGeom prst="rect">
            <a:avLst/>
          </a:prstGeom>
          <a:solidFill>
            <a:srgbClr val="CC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720840" y="1527048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18"/>
                </a:solidFill>
                <a:latin typeface="Calibri"/>
              </a:rPr>
              <a:t>Hallucination Risk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20840" y="1874520"/>
            <a:ext cx="50292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6860"/>
                </a:solidFill>
                <a:latin typeface="Calibri"/>
              </a:rPr>
              <a:t>LLMs without grounding fabricate facts — dangerous in HR, legal, and compliance contexts.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37960" y="2971800"/>
            <a:ext cx="5394960" cy="1371600"/>
          </a:xfrm>
          <a:prstGeom prst="roundRect">
            <a:avLst>
              <a:gd name="adj" fmla="val 6000"/>
            </a:avLst>
          </a:prstGeom>
          <a:solidFill>
            <a:srgbClr val="FAF7F0"/>
          </a:solidFill>
          <a:ln w="12700">
            <a:solidFill>
              <a:srgbClr val="DDD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6537960" y="2971800"/>
            <a:ext cx="73152" cy="1371600"/>
          </a:xfrm>
          <a:prstGeom prst="rect">
            <a:avLst/>
          </a:prstGeom>
          <a:solidFill>
            <a:srgbClr val="CC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720840" y="3081528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18"/>
                </a:solidFill>
                <a:latin typeface="Calibri"/>
              </a:rPr>
              <a:t>PII Leakage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20840" y="3429000"/>
            <a:ext cx="50292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6860"/>
                </a:solidFill>
                <a:latin typeface="Calibri"/>
              </a:rPr>
              <a:t>AI systems can expose emails, phone numbers, and IDs present in source documents.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3D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1D5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245F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8F0EB"/>
                </a:solidFill>
                <a:latin typeface="Calibri"/>
              </a:rPr>
              <a:t>THE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One System. Every Answer.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207008"/>
            <a:ext cx="10058400" cy="32004"/>
          </a:xfrm>
          <a:prstGeom prst="rect">
            <a:avLst/>
          </a:prstGeom>
          <a:solidFill>
            <a:srgbClr val="1D5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594360" y="1554480"/>
            <a:ext cx="2651760" cy="4389120"/>
          </a:xfrm>
          <a:prstGeom prst="roundRect">
            <a:avLst>
              <a:gd name="adj" fmla="val 6000"/>
            </a:avLst>
          </a:prstGeom>
          <a:solidFill>
            <a:srgbClr val="1E4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94360" y="1554480"/>
            <a:ext cx="2651760" cy="64008"/>
          </a:xfrm>
          <a:prstGeom prst="rect">
            <a:avLst/>
          </a:prstGeom>
          <a:solidFill>
            <a:srgbClr val="1D5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58952" y="1755648"/>
            <a:ext cx="4572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IN" sz="2200" b="1" dirty="0">
                <a:solidFill>
                  <a:srgbClr val="E8F0EB"/>
                </a:solidFill>
                <a:latin typeface="Calibri"/>
              </a:rPr>
              <a:t>1</a:t>
            </a:r>
            <a:endParaRPr sz="2200" b="1" i="0" dirty="0">
              <a:solidFill>
                <a:srgbClr val="E8F0EB"/>
              </a:solidFill>
              <a:latin typeface="Calibri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758952" y="2240280"/>
            <a:ext cx="2331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 dirty="0">
                <a:solidFill>
                  <a:srgbClr val="FFFFFF"/>
                </a:solidFill>
                <a:latin typeface="Calibri"/>
              </a:rPr>
              <a:t>Private &amp;
Grounded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" y="3127248"/>
            <a:ext cx="23317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8A49C"/>
                </a:solidFill>
                <a:latin typeface="Calibri"/>
              </a:rPr>
              <a:t>Answers drawn exclusively from your uploaded documents — never from hallucinated knowledge.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02152" y="1554480"/>
            <a:ext cx="2651760" cy="4389120"/>
          </a:xfrm>
          <a:prstGeom prst="roundRect">
            <a:avLst>
              <a:gd name="adj" fmla="val 6000"/>
            </a:avLst>
          </a:prstGeom>
          <a:solidFill>
            <a:srgbClr val="1E4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502152" y="1554480"/>
            <a:ext cx="2651760" cy="64008"/>
          </a:xfrm>
          <a:prstGeom prst="rect">
            <a:avLst/>
          </a:prstGeom>
          <a:solidFill>
            <a:srgbClr val="1D5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666744" y="1755648"/>
            <a:ext cx="4572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 dirty="0">
                <a:solidFill>
                  <a:srgbClr val="E8F0EB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66744" y="2240280"/>
            <a:ext cx="2331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 dirty="0">
                <a:solidFill>
                  <a:srgbClr val="FFFFFF"/>
                </a:solidFill>
                <a:latin typeface="Calibri"/>
              </a:rPr>
              <a:t>Multi-Stage
Retrieval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66744" y="3127248"/>
            <a:ext cx="23317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8A49C"/>
                </a:solidFill>
                <a:latin typeface="Calibri"/>
              </a:rPr>
              <a:t>Bi-encoder + BM25 + RRF + Cross-Encoder pipeline delivers higher recall and precision.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9944" y="1554480"/>
            <a:ext cx="2651760" cy="4389120"/>
          </a:xfrm>
          <a:prstGeom prst="roundRect">
            <a:avLst>
              <a:gd name="adj" fmla="val 6000"/>
            </a:avLst>
          </a:prstGeom>
          <a:solidFill>
            <a:srgbClr val="1E4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409944" y="1554480"/>
            <a:ext cx="2651760" cy="64008"/>
          </a:xfrm>
          <a:prstGeom prst="rect">
            <a:avLst/>
          </a:prstGeom>
          <a:solidFill>
            <a:srgbClr val="1D5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574536" y="1755648"/>
            <a:ext cx="4572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 dirty="0">
                <a:solidFill>
                  <a:srgbClr val="E8F0EB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74536" y="2240280"/>
            <a:ext cx="2331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Anti-Hallucination
Verification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74536" y="3127248"/>
            <a:ext cx="23317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8A49C"/>
                </a:solidFill>
                <a:latin typeface="Calibri"/>
              </a:rPr>
              <a:t>Two-pass LLM calls: generate → verify faithfulness — before any answer reaches the user.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317736" y="1554480"/>
            <a:ext cx="2651760" cy="4389120"/>
          </a:xfrm>
          <a:prstGeom prst="roundRect">
            <a:avLst>
              <a:gd name="adj" fmla="val 6000"/>
            </a:avLst>
          </a:prstGeom>
          <a:solidFill>
            <a:srgbClr val="1E4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9317736" y="1554480"/>
            <a:ext cx="2651760" cy="64008"/>
          </a:xfrm>
          <a:prstGeom prst="rect">
            <a:avLst/>
          </a:prstGeom>
          <a:solidFill>
            <a:srgbClr val="1D5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482328" y="1755648"/>
            <a:ext cx="4572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 dirty="0">
                <a:solidFill>
                  <a:srgbClr val="E8F0EB"/>
                </a:solidFill>
                <a:latin typeface="Calibr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82328" y="2240280"/>
            <a:ext cx="2331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Secure &amp;
Audit-Ready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82328" y="3127248"/>
            <a:ext cx="23317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8A49C"/>
                </a:solidFill>
                <a:latin typeface="Calibri"/>
              </a:rPr>
              <a:t>API key auth, PII redaction, full query logging, and Docker deployment out of the box.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EC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D5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DDD8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8A49C"/>
                </a:solidFill>
                <a:latin typeface="Calibri"/>
              </a:rPr>
              <a:t>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29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D5037"/>
                </a:solidFill>
                <a:latin typeface="Calibri"/>
              </a:rPr>
              <a:t>System Architecture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07008"/>
            <a:ext cx="10698480" cy="27432"/>
          </a:xfrm>
          <a:prstGeom prst="rect">
            <a:avLst/>
          </a:prstGeom>
          <a:solidFill>
            <a:srgbClr val="DDD8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40080" y="1463040"/>
            <a:ext cx="1554480" cy="777240"/>
          </a:xfrm>
          <a:prstGeom prst="roundRect">
            <a:avLst>
              <a:gd name="adj" fmla="val 6000"/>
            </a:avLst>
          </a:prstGeom>
          <a:solidFill>
            <a:srgbClr val="E8E2D3"/>
          </a:solidFill>
          <a:ln w="12700">
            <a:solidFill>
              <a:srgbClr val="DDD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1A1A18"/>
                </a:solidFill>
                <a:latin typeface="Calibri"/>
              </a:rPr>
              <a:t>Browser
/ User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560320" y="1463040"/>
            <a:ext cx="1554480" cy="777240"/>
          </a:xfrm>
          <a:prstGeom prst="roundRect">
            <a:avLst>
              <a:gd name="adj" fmla="val 6000"/>
            </a:avLst>
          </a:prstGeom>
          <a:solidFill>
            <a:srgbClr val="E8F0EB"/>
          </a:solidFill>
          <a:ln w="12700">
            <a:solidFill>
              <a:srgbClr val="DDD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1D5037"/>
                </a:solidFill>
                <a:latin typeface="Calibri"/>
              </a:rPr>
              <a:t>Next.js
Frontend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80560" y="1463040"/>
            <a:ext cx="1554480" cy="777240"/>
          </a:xfrm>
          <a:prstGeom prst="roundRect">
            <a:avLst>
              <a:gd name="adj" fmla="val 6000"/>
            </a:avLst>
          </a:prstGeom>
          <a:solidFill>
            <a:srgbClr val="1D5037"/>
          </a:solidFill>
          <a:ln w="12700">
            <a:solidFill>
              <a:srgbClr val="DDD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FastAPI
Backend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86000" y="1645920"/>
            <a:ext cx="2926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D5037"/>
                </a:solidFill>
                <a:latin typeface="Calibri"/>
              </a:rPr>
              <a:t>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06240" y="1645920"/>
            <a:ext cx="2926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D5037"/>
                </a:solidFill>
                <a:latin typeface="Calibri"/>
              </a:rPr>
              <a:t>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34640" y="1248156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i="0" dirty="0">
                <a:solidFill>
                  <a:srgbClr val="A8A49C"/>
                </a:solidFill>
                <a:latin typeface="Calibri"/>
              </a:rPr>
              <a:t>X-API-Key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46888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6B6860"/>
                </a:solidFill>
                <a:latin typeface="Calibri"/>
              </a:rPr>
              <a:t>Document Ingestion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2788920"/>
            <a:ext cx="2468880" cy="548640"/>
          </a:xfrm>
          <a:prstGeom prst="roundRect">
            <a:avLst>
              <a:gd name="adj" fmla="val 6000"/>
            </a:avLst>
          </a:prstGeom>
          <a:solidFill>
            <a:srgbClr val="E8F0EB"/>
          </a:solidFill>
          <a:ln w="12700">
            <a:solidFill>
              <a:srgbClr val="DDD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1D5037"/>
                </a:solidFill>
                <a:latin typeface="Calibri"/>
              </a:rPr>
              <a:t>Extract Text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54680" y="292608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D5037"/>
                </a:solidFill>
                <a:latin typeface="Calibri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83280" y="2788920"/>
            <a:ext cx="2468880" cy="548640"/>
          </a:xfrm>
          <a:prstGeom prst="roundRect">
            <a:avLst>
              <a:gd name="adj" fmla="val 6000"/>
            </a:avLst>
          </a:prstGeom>
          <a:solidFill>
            <a:srgbClr val="E8F0EB"/>
          </a:solidFill>
          <a:ln w="12700">
            <a:solidFill>
              <a:srgbClr val="DDD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1D5037"/>
                </a:solidFill>
                <a:latin typeface="Calibri"/>
              </a:rPr>
              <a:t>Chunk (500 tok)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97880" y="292608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D5037"/>
                </a:solidFill>
                <a:latin typeface="Calibri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26480" y="2788920"/>
            <a:ext cx="2468880" cy="548640"/>
          </a:xfrm>
          <a:prstGeom prst="roundRect">
            <a:avLst>
              <a:gd name="adj" fmla="val 6000"/>
            </a:avLst>
          </a:prstGeom>
          <a:solidFill>
            <a:srgbClr val="E8F0EB"/>
          </a:solidFill>
          <a:ln w="12700">
            <a:solidFill>
              <a:srgbClr val="DDD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1D5037"/>
                </a:solidFill>
                <a:latin typeface="Calibri"/>
              </a:rPr>
              <a:t>Embed (MiniLM)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41080" y="292608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D5037"/>
                </a:solidFill>
                <a:latin typeface="Calibri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869680" y="2788920"/>
            <a:ext cx="2468880" cy="548640"/>
          </a:xfrm>
          <a:prstGeom prst="roundRect">
            <a:avLst>
              <a:gd name="adj" fmla="val 6000"/>
            </a:avLst>
          </a:prstGeom>
          <a:solidFill>
            <a:srgbClr val="E8F0EB"/>
          </a:solidFill>
          <a:ln w="12700">
            <a:solidFill>
              <a:srgbClr val="DDD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 dirty="0">
                <a:solidFill>
                  <a:srgbClr val="1D5037"/>
                </a:solidFill>
                <a:latin typeface="Calibri"/>
              </a:rPr>
              <a:t>Store </a:t>
            </a:r>
            <a:r>
              <a:rPr sz="1100" b="1" dirty="0" err="1">
                <a:solidFill>
                  <a:srgbClr val="1D5037"/>
                </a:solidFill>
                <a:latin typeface="Calibri"/>
              </a:rPr>
              <a:t>ChromaDB</a:t>
            </a:r>
            <a:r>
              <a:rPr sz="1100" b="1" dirty="0">
                <a:solidFill>
                  <a:srgbClr val="1D5037"/>
                </a:solidFill>
                <a:latin typeface="Calibri"/>
              </a:rPr>
              <a:t> + </a:t>
            </a:r>
            <a:r>
              <a:rPr sz="1100" b="1" dirty="0" err="1">
                <a:solidFill>
                  <a:srgbClr val="1D5037"/>
                </a:solidFill>
                <a:latin typeface="Calibri"/>
              </a:rPr>
              <a:t>chunks.json</a:t>
            </a:r>
            <a:endParaRPr sz="1100" b="1" dirty="0">
              <a:solidFill>
                <a:srgbClr val="1D5037"/>
              </a:solidFill>
              <a:latin typeface="Calibri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640080" y="3383280"/>
            <a:ext cx="10607040" cy="22860"/>
          </a:xfrm>
          <a:prstGeom prst="rect">
            <a:avLst/>
          </a:prstGeom>
          <a:solidFill>
            <a:srgbClr val="DDD8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40080" y="3493008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6B6860"/>
                </a:solidFill>
                <a:latin typeface="Calibri"/>
              </a:rPr>
              <a:t>Hybrid Retrieval Pipeline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3822191"/>
            <a:ext cx="2468880" cy="658368"/>
          </a:xfrm>
          <a:prstGeom prst="roundRect">
            <a:avLst>
              <a:gd name="adj" fmla="val 6000"/>
            </a:avLst>
          </a:prstGeom>
          <a:solidFill>
            <a:srgbClr val="1D5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Bi-Encoder
(ChromaDB top-20)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54680" y="3977639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D5037"/>
                </a:solidFill>
                <a:latin typeface="Calibri"/>
              </a:rPr>
              <a:t>→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383280" y="3822191"/>
            <a:ext cx="2468880" cy="658368"/>
          </a:xfrm>
          <a:prstGeom prst="roundRect">
            <a:avLst>
              <a:gd name="adj" fmla="val 6000"/>
            </a:avLst>
          </a:prstGeom>
          <a:solidFill>
            <a:srgbClr val="1A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BM25 Keyword
(top-20)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97880" y="3977639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D5037"/>
                </a:solidFill>
                <a:latin typeface="Calibri"/>
              </a:rPr>
              <a:t>→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26480" y="3822191"/>
            <a:ext cx="2468880" cy="658368"/>
          </a:xfrm>
          <a:prstGeom prst="roundRect">
            <a:avLst>
              <a:gd name="adj" fmla="val 6000"/>
            </a:avLst>
          </a:prstGeom>
          <a:solidFill>
            <a:srgbClr val="245F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RRF
Fusion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41080" y="3977639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D5037"/>
                </a:solidFill>
                <a:latin typeface="Calibri"/>
              </a:rPr>
              <a:t>→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869680" y="3822191"/>
            <a:ext cx="2468880" cy="658368"/>
          </a:xfrm>
          <a:prstGeom prst="roundRect">
            <a:avLst>
              <a:gd name="adj" fmla="val 6000"/>
            </a:avLst>
          </a:prstGeom>
          <a:solidFill>
            <a:srgbClr val="1D5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Cross-Encoder
Rerank → top-5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4572000"/>
            <a:ext cx="10607040" cy="22860"/>
          </a:xfrm>
          <a:prstGeom prst="rect">
            <a:avLst/>
          </a:prstGeom>
          <a:solidFill>
            <a:srgbClr val="DDD8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640080" y="4681728"/>
            <a:ext cx="2468880" cy="658368"/>
          </a:xfrm>
          <a:prstGeom prst="roundRect">
            <a:avLst>
              <a:gd name="adj" fmla="val 6000"/>
            </a:avLst>
          </a:prstGeom>
          <a:solidFill>
            <a:srgbClr val="FAF7F0"/>
          </a:solidFill>
          <a:ln w="12700">
            <a:solidFill>
              <a:srgbClr val="DDD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1A1A18"/>
                </a:solidFill>
                <a:latin typeface="Calibri"/>
              </a:rPr>
              <a:t>Build Prompt
+ Context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154680" y="4828032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D5037"/>
                </a:solidFill>
                <a:latin typeface="Calibri"/>
              </a:rPr>
              <a:t>→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383280" y="4681728"/>
            <a:ext cx="2468880" cy="658368"/>
          </a:xfrm>
          <a:prstGeom prst="roundRect">
            <a:avLst>
              <a:gd name="adj" fmla="val 6000"/>
            </a:avLst>
          </a:prstGeom>
          <a:solidFill>
            <a:srgbClr val="1D5037"/>
          </a:solidFill>
          <a:ln w="12700">
            <a:solidFill>
              <a:srgbClr val="DDD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Groq LLM
Pass 1: Generate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897880" y="4828032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D5037"/>
                </a:solidFill>
                <a:latin typeface="Calibri"/>
              </a:rPr>
              <a:t>→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126480" y="4681728"/>
            <a:ext cx="2468880" cy="658368"/>
          </a:xfrm>
          <a:prstGeom prst="roundRect">
            <a:avLst>
              <a:gd name="adj" fmla="val 6000"/>
            </a:avLst>
          </a:prstGeom>
          <a:solidFill>
            <a:srgbClr val="245F43"/>
          </a:solidFill>
          <a:ln w="12700">
            <a:solidFill>
              <a:srgbClr val="DDD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Groq LLM
Pass 2: Verify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41080" y="4828032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D5037"/>
                </a:solidFill>
                <a:latin typeface="Calibri"/>
              </a:rPr>
              <a:t>→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869680" y="4681728"/>
            <a:ext cx="2468880" cy="658368"/>
          </a:xfrm>
          <a:prstGeom prst="roundRect">
            <a:avLst>
              <a:gd name="adj" fmla="val 6000"/>
            </a:avLst>
          </a:prstGeom>
          <a:solidFill>
            <a:srgbClr val="1A3D5C"/>
          </a:solidFill>
          <a:ln w="12700">
            <a:solidFill>
              <a:srgbClr val="DDD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Redact PII
→ Response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EC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D5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DDD8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8A49C"/>
                </a:solidFill>
                <a:latin typeface="Calibri"/>
              </a:rPr>
              <a:t>RETRIEVAL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29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D5037"/>
                </a:solidFill>
                <a:latin typeface="Calibri"/>
              </a:rPr>
              <a:t>4-Stage Hybrid Retrieval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07008"/>
            <a:ext cx="10698480" cy="27432"/>
          </a:xfrm>
          <a:prstGeom prst="rect">
            <a:avLst/>
          </a:prstGeom>
          <a:solidFill>
            <a:srgbClr val="DDD8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594360" y="1463040"/>
            <a:ext cx="2697480" cy="5029200"/>
          </a:xfrm>
          <a:prstGeom prst="roundRect">
            <a:avLst>
              <a:gd name="adj" fmla="val 6000"/>
            </a:avLst>
          </a:prstGeom>
          <a:solidFill>
            <a:srgbClr val="1D5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58952" y="1572768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8F0EB"/>
                </a:solidFill>
                <a:latin typeface="Calibri"/>
              </a:rPr>
              <a:t>Stage 1A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1874519"/>
            <a:ext cx="23774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Bi-Encoder
Vector Search</a:t>
            </a:r>
          </a:p>
        </p:txBody>
      </p:sp>
      <p:sp>
        <p:nvSpPr>
          <p:cNvPr id="10" name="Rectangle 9"/>
          <p:cNvSpPr/>
          <p:nvPr/>
        </p:nvSpPr>
        <p:spPr>
          <a:xfrm>
            <a:off x="758952" y="2578608"/>
            <a:ext cx="2331720" cy="22860"/>
          </a:xfrm>
          <a:prstGeom prst="rect">
            <a:avLst/>
          </a:prstGeom>
          <a:solidFill>
            <a:srgbClr val="E8F0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58952" y="2697480"/>
            <a:ext cx="23774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F0EB"/>
                </a:solidFill>
                <a:latin typeface="Calibri"/>
              </a:rPr>
              <a:t>Query → 384-dim vector via all-MiniLM-L6-v2
Cosine distance search in ChromaDB
Returns top-20 chunks (distance ≤ 1.35)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02152" y="1463040"/>
            <a:ext cx="2697480" cy="5029200"/>
          </a:xfrm>
          <a:prstGeom prst="roundRect">
            <a:avLst>
              <a:gd name="adj" fmla="val 6000"/>
            </a:avLst>
          </a:prstGeom>
          <a:solidFill>
            <a:srgbClr val="1A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666744" y="1572768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8F0EB"/>
                </a:solidFill>
                <a:latin typeface="Calibri"/>
              </a:rPr>
              <a:t>Stage 1B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66744" y="1874519"/>
            <a:ext cx="23774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BM25
Keyword Search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66744" y="2578608"/>
            <a:ext cx="2331720" cy="22860"/>
          </a:xfrm>
          <a:prstGeom prst="rect">
            <a:avLst/>
          </a:prstGeom>
          <a:solidFill>
            <a:srgbClr val="E8F0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666744" y="2697480"/>
            <a:ext cx="23774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F0EB"/>
                </a:solidFill>
                <a:latin typeface="Calibri"/>
              </a:rPr>
              <a:t>Query tokenised and matched word-by-word
BM25Okapi scores across all chunks.json
Returns top-20 keyword-matched chunks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9944" y="1463040"/>
            <a:ext cx="2697480" cy="5029200"/>
          </a:xfrm>
          <a:prstGeom prst="roundRect">
            <a:avLst>
              <a:gd name="adj" fmla="val 6000"/>
            </a:avLst>
          </a:prstGeom>
          <a:solidFill>
            <a:srgbClr val="245F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574536" y="1572768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8F0EB"/>
                </a:solidFill>
                <a:latin typeface="Calibri"/>
              </a:rPr>
              <a:t>Stage 1C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74536" y="1874519"/>
            <a:ext cx="23774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RRF
Fusion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74536" y="2578608"/>
            <a:ext cx="2331720" cy="22860"/>
          </a:xfrm>
          <a:prstGeom prst="rect">
            <a:avLst/>
          </a:prstGeom>
          <a:solidFill>
            <a:srgbClr val="E8F0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574536" y="2697480"/>
            <a:ext cx="23774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F0EB"/>
                </a:solidFill>
                <a:latin typeface="Calibri"/>
              </a:rPr>
              <a:t>Reciprocal Rank Fusion merges both lists
Score = Σ 1/(k + rank) for each chunk ID
Deduplicates and re-orders by combined score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317736" y="1463040"/>
            <a:ext cx="2697480" cy="5029200"/>
          </a:xfrm>
          <a:prstGeom prst="roundRect">
            <a:avLst>
              <a:gd name="adj" fmla="val 6000"/>
            </a:avLst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482328" y="1572768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8F0EB"/>
                </a:solidFill>
                <a:latin typeface="Calibri"/>
              </a:rPr>
              <a:t>Stage 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82328" y="1874519"/>
            <a:ext cx="23774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Cross-Encoder
Reranking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482328" y="2578608"/>
            <a:ext cx="2331720" cy="22860"/>
          </a:xfrm>
          <a:prstGeom prst="rect">
            <a:avLst/>
          </a:prstGeom>
          <a:solidFill>
            <a:srgbClr val="E8F0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9482328" y="2697480"/>
            <a:ext cx="23774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F0EB"/>
                </a:solidFill>
                <a:latin typeface="Calibri"/>
              </a:rPr>
              <a:t>Top-20 RRF candidates re-scored
Cross-encoder directly compares query + chunk text
Final top-5 most relevant chunks returned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19272" y="3611880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D5037"/>
                </a:solidFill>
                <a:latin typeface="Calibri"/>
              </a:rPr>
              <a:t>▶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27064" y="3611880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D5037"/>
                </a:solidFill>
                <a:latin typeface="Calibri"/>
              </a:rPr>
              <a:t>▶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34856" y="3611880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D5037"/>
                </a:solidFill>
                <a:latin typeface="Calibri"/>
              </a:rPr>
              <a:t>▶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360" y="5628132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6B6860"/>
                </a:solidFill>
                <a:latin typeface="Calibri"/>
              </a:rPr>
              <a:t>Why combine both methods?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94360" y="6080760"/>
            <a:ext cx="3657600" cy="475488"/>
          </a:xfrm>
          <a:prstGeom prst="roundRect">
            <a:avLst>
              <a:gd name="adj" fmla="val 6000"/>
            </a:avLst>
          </a:prstGeom>
          <a:solidFill>
            <a:srgbClr val="E8F0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704088" y="6126480"/>
            <a:ext cx="345643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D5037"/>
                </a:solidFill>
                <a:latin typeface="Calibri"/>
              </a:rPr>
              <a:t>Vector search: excels at semantic meaning — finds 'onboarding process' when user types 'new hire steps'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480560" y="6080760"/>
            <a:ext cx="3657600" cy="475488"/>
          </a:xfrm>
          <a:prstGeom prst="roundRect">
            <a:avLst>
              <a:gd name="adj" fmla="val 6000"/>
            </a:avLst>
          </a:prstGeom>
          <a:solidFill>
            <a:srgbClr val="E8F0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4590288" y="6126480"/>
            <a:ext cx="345643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D5037"/>
                </a:solidFill>
                <a:latin typeface="Calibri"/>
              </a:rPr>
              <a:t>BM25: excels at exact terms — finds product codes, names, IDs that vector search may miss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366760" y="6080760"/>
            <a:ext cx="3657600" cy="475488"/>
          </a:xfrm>
          <a:prstGeom prst="roundRect">
            <a:avLst>
              <a:gd name="adj" fmla="val 6000"/>
            </a:avLst>
          </a:prstGeom>
          <a:solidFill>
            <a:srgbClr val="E8F0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8476488" y="6126480"/>
            <a:ext cx="345643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D5037"/>
                </a:solidFill>
                <a:latin typeface="Calibri"/>
              </a:rPr>
              <a:t>Cross-encoder: most accurate but slow — applied only to the small fused candidate set for efficiency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D503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245F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1A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8F0EB"/>
                </a:solidFill>
                <a:latin typeface="Calibri"/>
              </a:rPr>
              <a:t>LLM GENERATION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Two-Pass Verified Generation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207008"/>
            <a:ext cx="10515600" cy="32004"/>
          </a:xfrm>
          <a:prstGeom prst="rect">
            <a:avLst/>
          </a:prstGeom>
          <a:solidFill>
            <a:srgbClr val="245F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594360" y="1554480"/>
            <a:ext cx="2148840" cy="4663440"/>
          </a:xfrm>
          <a:prstGeom prst="roundRect">
            <a:avLst>
              <a:gd name="adj" fmla="val 6000"/>
            </a:avLst>
          </a:prstGeom>
          <a:solidFill>
            <a:srgbClr val="1A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1664208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E8F0EB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121408"/>
            <a:ext cx="187451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Retrieve
Top-5 Chunks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2816352"/>
            <a:ext cx="1828800" cy="22860"/>
          </a:xfrm>
          <a:prstGeom prst="rect">
            <a:avLst/>
          </a:prstGeom>
          <a:solidFill>
            <a:srgbClr val="E8F0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31520" y="2907792"/>
            <a:ext cx="1901952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F0EB"/>
                </a:solidFill>
                <a:latin typeface="Calibri"/>
              </a:rPr>
              <a:t>Cross-encoder provides the 5 most relevant text chunks from the document corpus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2651760"/>
            <a:ext cx="182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935224" y="1554480"/>
            <a:ext cx="2148840" cy="4663440"/>
          </a:xfrm>
          <a:prstGeom prst="roundRect">
            <a:avLst>
              <a:gd name="adj" fmla="val 6000"/>
            </a:avLst>
          </a:prstGeom>
          <a:solidFill>
            <a:srgbClr val="1E4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072384" y="1664208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E8F0EB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72384" y="2121408"/>
            <a:ext cx="187451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Build
Grounded Prompt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072384" y="2816352"/>
            <a:ext cx="1828800" cy="22860"/>
          </a:xfrm>
          <a:prstGeom prst="rect">
            <a:avLst/>
          </a:prstGeom>
          <a:solidFill>
            <a:srgbClr val="E8F0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072384" y="2907792"/>
            <a:ext cx="1901952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F0EB"/>
                </a:solidFill>
                <a:latin typeface="Calibri"/>
              </a:rPr>
              <a:t>Strict prompt template: answer ONLY from the context below — no general knowledge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29784" y="2651760"/>
            <a:ext cx="182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▶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276088" y="1554480"/>
            <a:ext cx="2148840" cy="4663440"/>
          </a:xfrm>
          <a:prstGeom prst="roundRect">
            <a:avLst>
              <a:gd name="adj" fmla="val 6000"/>
            </a:avLst>
          </a:prstGeom>
          <a:solidFill>
            <a:srgbClr val="245F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413248" y="1664208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E8F0EB"/>
                </a:solidFill>
                <a:latin typeface="Calibr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13248" y="2121408"/>
            <a:ext cx="187451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Pass 1:
Generate Answer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13248" y="2816352"/>
            <a:ext cx="1828800" cy="22860"/>
          </a:xfrm>
          <a:prstGeom prst="rect">
            <a:avLst/>
          </a:prstGeom>
          <a:solidFill>
            <a:srgbClr val="E8F0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413248" y="2907792"/>
            <a:ext cx="1901952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F0EB"/>
                </a:solidFill>
                <a:latin typeface="Calibri"/>
              </a:rPr>
              <a:t>Groq llama-3.3-70b-versatile generates an initial answer from the prompt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70648" y="2651760"/>
            <a:ext cx="182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▶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616952" y="1554480"/>
            <a:ext cx="2148840" cy="4663440"/>
          </a:xfrm>
          <a:prstGeom prst="roundRect">
            <a:avLst>
              <a:gd name="adj" fmla="val 6000"/>
            </a:avLst>
          </a:prstGeom>
          <a:solidFill>
            <a:srgbClr val="245F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754112" y="1664208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E8F0EB"/>
                </a:solidFill>
                <a:latin typeface="Calibri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54112" y="2121408"/>
            <a:ext cx="187451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Pass 2:
Verify Faithfulness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754112" y="2816352"/>
            <a:ext cx="1828800" cy="22860"/>
          </a:xfrm>
          <a:prstGeom prst="rect">
            <a:avLst/>
          </a:prstGeom>
          <a:solidFill>
            <a:srgbClr val="E8F0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7754112" y="2907792"/>
            <a:ext cx="1901952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F0EB"/>
                </a:solidFill>
                <a:latin typeface="Calibri"/>
              </a:rPr>
              <a:t>Second LLM call checks: is every claim in the answer supported by the chunks?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11512" y="2651760"/>
            <a:ext cx="182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▶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957816" y="1554480"/>
            <a:ext cx="2148840" cy="4663440"/>
          </a:xfrm>
          <a:prstGeom prst="roundRect">
            <a:avLst>
              <a:gd name="adj" fmla="val 6000"/>
            </a:avLst>
          </a:prstGeom>
          <a:solidFill>
            <a:srgbClr val="1A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10094976" y="1664208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E8F0EB"/>
                </a:solidFill>
                <a:latin typeface="Calibri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94976" y="2121408"/>
            <a:ext cx="187451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Redact &amp;
Return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094976" y="2816352"/>
            <a:ext cx="1828800" cy="22860"/>
          </a:xfrm>
          <a:prstGeom prst="rect">
            <a:avLst/>
          </a:prstGeom>
          <a:solidFill>
            <a:srgbClr val="E8F0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10094976" y="2907792"/>
            <a:ext cx="1901952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F0EB"/>
                </a:solidFill>
                <a:latin typeface="Calibri"/>
              </a:rPr>
              <a:t>PII regex scans the final answer; response includes answer + citations + latency_ms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94360" y="6035040"/>
            <a:ext cx="10972800" cy="548640"/>
          </a:xfrm>
          <a:prstGeom prst="roundRect">
            <a:avLst>
              <a:gd name="adj" fmla="val 6000"/>
            </a:avLst>
          </a:prstGeom>
          <a:solidFill>
            <a:srgbClr val="1A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0">
                <a:solidFill>
                  <a:srgbClr val="F2ECE0"/>
                </a:solidFill>
                <a:latin typeface="Calibri"/>
              </a:rPr>
              <a:t>Why two passes?  A single LLM call can still produce fluent-but-wrong answers. The verification pass acts as an automated fact-checker, rejecting answers not fully supported by the retrieved text.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EC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D5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DDD8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8A49C"/>
                </a:solidFill>
                <a:latin typeface="Calibri"/>
              </a:rPr>
              <a:t>FEATURES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2920"/>
            <a:ext cx="100584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 dirty="0">
                <a:solidFill>
                  <a:srgbClr val="1D5037"/>
                </a:solidFill>
                <a:latin typeface="Calibri"/>
              </a:rPr>
              <a:t>1</a:t>
            </a:r>
            <a:r>
              <a:rPr lang="en-IN" sz="3000" b="1" i="0" dirty="0">
                <a:solidFill>
                  <a:srgbClr val="1D5037"/>
                </a:solidFill>
                <a:latin typeface="Calibri"/>
              </a:rPr>
              <a:t>2</a:t>
            </a:r>
            <a:r>
              <a:rPr sz="3000" b="1" i="0" dirty="0">
                <a:solidFill>
                  <a:srgbClr val="1D5037"/>
                </a:solidFill>
                <a:latin typeface="Calibri"/>
              </a:rPr>
              <a:t> Production-Grade Features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07008"/>
            <a:ext cx="10698480" cy="27432"/>
          </a:xfrm>
          <a:prstGeom prst="rect">
            <a:avLst/>
          </a:prstGeom>
          <a:solidFill>
            <a:srgbClr val="DDD8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594360" y="1444752"/>
            <a:ext cx="2697480" cy="1508760"/>
          </a:xfrm>
          <a:prstGeom prst="roundRect">
            <a:avLst>
              <a:gd name="adj" fmla="val 6000"/>
            </a:avLst>
          </a:prstGeom>
          <a:solidFill>
            <a:srgbClr val="FAF7F0"/>
          </a:solidFill>
          <a:ln w="12700">
            <a:solidFill>
              <a:srgbClr val="DDD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94360" y="1444752"/>
            <a:ext cx="2697480" cy="64008"/>
          </a:xfrm>
          <a:prstGeom prst="rect">
            <a:avLst/>
          </a:prstGeom>
          <a:solidFill>
            <a:srgbClr val="1D5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22376" y="1627632"/>
            <a:ext cx="24414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18"/>
                </a:solidFill>
                <a:latin typeface="Calibri"/>
              </a:rPr>
              <a:t>Multi-Format Upload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2376" y="2011680"/>
            <a:ext cx="2441448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6860"/>
                </a:solidFill>
                <a:latin typeface="Calibri"/>
              </a:rPr>
              <a:t>PDF, DOCX, TXT, CSV, JSON, MD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02152" y="1444752"/>
            <a:ext cx="2697480" cy="1508760"/>
          </a:xfrm>
          <a:prstGeom prst="roundRect">
            <a:avLst>
              <a:gd name="adj" fmla="val 6000"/>
            </a:avLst>
          </a:prstGeom>
          <a:solidFill>
            <a:srgbClr val="FAF7F0"/>
          </a:solidFill>
          <a:ln w="12700">
            <a:solidFill>
              <a:srgbClr val="DDD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3502152" y="1444752"/>
            <a:ext cx="2697480" cy="64008"/>
          </a:xfrm>
          <a:prstGeom prst="rect">
            <a:avLst/>
          </a:prstGeom>
          <a:solidFill>
            <a:srgbClr val="1D5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630168" y="1627632"/>
            <a:ext cx="24414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18"/>
                </a:solidFill>
                <a:latin typeface="Calibri"/>
              </a:rPr>
              <a:t>Hybrid Retrieval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0168" y="2011680"/>
            <a:ext cx="2441448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6860"/>
                </a:solidFill>
                <a:latin typeface="Calibri"/>
              </a:rPr>
              <a:t>Vector + BM25 + RRF + Cross-Encoder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9944" y="1444752"/>
            <a:ext cx="2697480" cy="1508760"/>
          </a:xfrm>
          <a:prstGeom prst="roundRect">
            <a:avLst>
              <a:gd name="adj" fmla="val 6000"/>
            </a:avLst>
          </a:prstGeom>
          <a:solidFill>
            <a:srgbClr val="FAF7F0"/>
          </a:solidFill>
          <a:ln w="12700">
            <a:solidFill>
              <a:srgbClr val="DDD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409944" y="1444752"/>
            <a:ext cx="2697480" cy="64008"/>
          </a:xfrm>
          <a:prstGeom prst="rect">
            <a:avLst/>
          </a:prstGeom>
          <a:solidFill>
            <a:srgbClr val="1D5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537960" y="1627632"/>
            <a:ext cx="24414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18"/>
                </a:solidFill>
                <a:latin typeface="Calibri"/>
              </a:rPr>
              <a:t>Two-Pass Verification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7960" y="2011680"/>
            <a:ext cx="2441448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6860"/>
                </a:solidFill>
                <a:latin typeface="Calibri"/>
              </a:rPr>
              <a:t>Anti-hallucination LLM fact-checking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317736" y="1444752"/>
            <a:ext cx="2697480" cy="1508760"/>
          </a:xfrm>
          <a:prstGeom prst="roundRect">
            <a:avLst>
              <a:gd name="adj" fmla="val 6000"/>
            </a:avLst>
          </a:prstGeom>
          <a:solidFill>
            <a:srgbClr val="FAF7F0"/>
          </a:solidFill>
          <a:ln w="12700">
            <a:solidFill>
              <a:srgbClr val="DDD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9317736" y="1444752"/>
            <a:ext cx="2697480" cy="64008"/>
          </a:xfrm>
          <a:prstGeom prst="rect">
            <a:avLst/>
          </a:prstGeom>
          <a:solidFill>
            <a:srgbClr val="1A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445752" y="1627632"/>
            <a:ext cx="24414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18"/>
                </a:solidFill>
                <a:latin typeface="Calibri"/>
              </a:rPr>
              <a:t>PII Redaction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45752" y="2011680"/>
            <a:ext cx="2441448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6860"/>
                </a:solidFill>
                <a:latin typeface="Calibri"/>
              </a:rPr>
              <a:t>Email, phone, national ID, credit card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94360" y="3163824"/>
            <a:ext cx="2697480" cy="1508760"/>
          </a:xfrm>
          <a:prstGeom prst="roundRect">
            <a:avLst>
              <a:gd name="adj" fmla="val 6000"/>
            </a:avLst>
          </a:prstGeom>
          <a:solidFill>
            <a:srgbClr val="FAF7F0"/>
          </a:solidFill>
          <a:ln w="12700">
            <a:solidFill>
              <a:srgbClr val="DDD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594360" y="3163824"/>
            <a:ext cx="2697480" cy="64008"/>
          </a:xfrm>
          <a:prstGeom prst="rect">
            <a:avLst/>
          </a:prstGeom>
          <a:solidFill>
            <a:srgbClr val="1A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22376" y="3346704"/>
            <a:ext cx="24414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18"/>
                </a:solidFill>
                <a:latin typeface="Calibri"/>
              </a:rPr>
              <a:t>Citation-Backed Answers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" y="3730752"/>
            <a:ext cx="2441448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6860"/>
                </a:solidFill>
                <a:latin typeface="Calibri"/>
              </a:rPr>
              <a:t>Source documents listed per answer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502152" y="3163824"/>
            <a:ext cx="2697480" cy="1508760"/>
          </a:xfrm>
          <a:prstGeom prst="roundRect">
            <a:avLst>
              <a:gd name="adj" fmla="val 6000"/>
            </a:avLst>
          </a:prstGeom>
          <a:solidFill>
            <a:srgbClr val="FAF7F0"/>
          </a:solidFill>
          <a:ln w="12700">
            <a:solidFill>
              <a:srgbClr val="DDD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3502152" y="3163824"/>
            <a:ext cx="2697480" cy="64008"/>
          </a:xfrm>
          <a:prstGeom prst="rect">
            <a:avLst/>
          </a:prstGeom>
          <a:solidFill>
            <a:srgbClr val="1A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3630168" y="3346704"/>
            <a:ext cx="24414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18"/>
                </a:solidFill>
                <a:latin typeface="Calibri"/>
              </a:rPr>
              <a:t>Chat Export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30168" y="3730752"/>
            <a:ext cx="2441448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6860"/>
                </a:solidFill>
                <a:latin typeface="Calibri"/>
              </a:rPr>
              <a:t>Download as .docx or .xlsx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09944" y="3163824"/>
            <a:ext cx="2697480" cy="1508760"/>
          </a:xfrm>
          <a:prstGeom prst="roundRect">
            <a:avLst>
              <a:gd name="adj" fmla="val 6000"/>
            </a:avLst>
          </a:prstGeom>
          <a:solidFill>
            <a:srgbClr val="FAF7F0"/>
          </a:solidFill>
          <a:ln w="12700">
            <a:solidFill>
              <a:srgbClr val="DDD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6409944" y="3163824"/>
            <a:ext cx="2697480" cy="64008"/>
          </a:xfrm>
          <a:prstGeom prst="rect">
            <a:avLst/>
          </a:prstGeom>
          <a:solidFill>
            <a:srgbClr val="245F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537960" y="3346704"/>
            <a:ext cx="24414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18"/>
                </a:solidFill>
                <a:latin typeface="Calibri"/>
              </a:rPr>
              <a:t>Re-Index Endpoint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37960" y="3730752"/>
            <a:ext cx="2441448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6860"/>
                </a:solidFill>
                <a:latin typeface="Calibri"/>
              </a:rPr>
              <a:t>Clear + rebuild vector DB on demand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317736" y="3163824"/>
            <a:ext cx="2697480" cy="1508760"/>
          </a:xfrm>
          <a:prstGeom prst="roundRect">
            <a:avLst>
              <a:gd name="adj" fmla="val 6000"/>
            </a:avLst>
          </a:prstGeom>
          <a:solidFill>
            <a:srgbClr val="FAF7F0"/>
          </a:solidFill>
          <a:ln w="12700">
            <a:solidFill>
              <a:srgbClr val="DDD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9317736" y="3163824"/>
            <a:ext cx="2697480" cy="64008"/>
          </a:xfrm>
          <a:prstGeom prst="rect">
            <a:avLst/>
          </a:prstGeom>
          <a:solidFill>
            <a:srgbClr val="245F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9445752" y="3346704"/>
            <a:ext cx="24414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18"/>
                </a:solidFill>
                <a:latin typeface="Calibri"/>
              </a:rPr>
              <a:t>Evaluation Metrics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445752" y="3730752"/>
            <a:ext cx="2441448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6860"/>
                </a:solidFill>
                <a:latin typeface="Calibri"/>
              </a:rPr>
              <a:t>Recall@K, Grounding, Latency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94360" y="4882896"/>
            <a:ext cx="2697480" cy="1508760"/>
          </a:xfrm>
          <a:prstGeom prst="roundRect">
            <a:avLst>
              <a:gd name="adj" fmla="val 6000"/>
            </a:avLst>
          </a:prstGeom>
          <a:solidFill>
            <a:srgbClr val="FAF7F0"/>
          </a:solidFill>
          <a:ln w="12700">
            <a:solidFill>
              <a:srgbClr val="DDD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594360" y="4882896"/>
            <a:ext cx="2697480" cy="64008"/>
          </a:xfrm>
          <a:prstGeom prst="rect">
            <a:avLst/>
          </a:prstGeom>
          <a:solidFill>
            <a:srgbClr val="1A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722376" y="5065776"/>
            <a:ext cx="24414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18"/>
                </a:solidFill>
                <a:latin typeface="Calibri"/>
              </a:rPr>
              <a:t>API Key Auth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22376" y="5449824"/>
            <a:ext cx="2441448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6860"/>
                </a:solidFill>
                <a:latin typeface="Calibri"/>
              </a:rPr>
              <a:t>X-API-Key header on all 7 endpoints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502152" y="4882896"/>
            <a:ext cx="2697480" cy="1508760"/>
          </a:xfrm>
          <a:prstGeom prst="roundRect">
            <a:avLst>
              <a:gd name="adj" fmla="val 6000"/>
            </a:avLst>
          </a:prstGeom>
          <a:solidFill>
            <a:srgbClr val="FAF7F0"/>
          </a:solidFill>
          <a:ln w="12700">
            <a:solidFill>
              <a:srgbClr val="DDD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3502152" y="4882896"/>
            <a:ext cx="2697480" cy="64008"/>
          </a:xfrm>
          <a:prstGeom prst="rect">
            <a:avLst/>
          </a:prstGeom>
          <a:solidFill>
            <a:srgbClr val="245F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3630168" y="5065776"/>
            <a:ext cx="24414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18"/>
                </a:solidFill>
                <a:latin typeface="Calibri"/>
              </a:rPr>
              <a:t>Audit Logging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30168" y="5449824"/>
            <a:ext cx="2441448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6860"/>
                </a:solidFill>
                <a:latin typeface="Calibri"/>
              </a:rPr>
              <a:t>Full query/answer log to JSON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409944" y="4882896"/>
            <a:ext cx="2697480" cy="1508760"/>
          </a:xfrm>
          <a:prstGeom prst="roundRect">
            <a:avLst>
              <a:gd name="adj" fmla="val 6000"/>
            </a:avLst>
          </a:prstGeom>
          <a:solidFill>
            <a:srgbClr val="FAF7F0"/>
          </a:solidFill>
          <a:ln w="12700">
            <a:solidFill>
              <a:srgbClr val="DDD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ectangle 47"/>
          <p:cNvSpPr/>
          <p:nvPr/>
        </p:nvSpPr>
        <p:spPr>
          <a:xfrm>
            <a:off x="6409944" y="4882896"/>
            <a:ext cx="2697480" cy="64008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6537960" y="5065776"/>
            <a:ext cx="24414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18"/>
                </a:solidFill>
                <a:latin typeface="Calibri"/>
              </a:rPr>
              <a:t>Greeting Handling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537960" y="5449824"/>
            <a:ext cx="2441448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6860"/>
                </a:solidFill>
                <a:latin typeface="Calibri"/>
              </a:rPr>
              <a:t>Smart shortcut for hi/who are you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9317736" y="4882896"/>
            <a:ext cx="2697480" cy="1508760"/>
          </a:xfrm>
          <a:prstGeom prst="roundRect">
            <a:avLst>
              <a:gd name="adj" fmla="val 6000"/>
            </a:avLst>
          </a:prstGeom>
          <a:solidFill>
            <a:srgbClr val="FAF7F0"/>
          </a:solidFill>
          <a:ln w="12700">
            <a:solidFill>
              <a:srgbClr val="DDD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Rectangle 51"/>
          <p:cNvSpPr/>
          <p:nvPr/>
        </p:nvSpPr>
        <p:spPr>
          <a:xfrm>
            <a:off x="9317736" y="4882896"/>
            <a:ext cx="2697480" cy="64008"/>
          </a:xfrm>
          <a:prstGeom prst="rect">
            <a:avLst/>
          </a:prstGeom>
          <a:solidFill>
            <a:srgbClr val="1E4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9445752" y="5065776"/>
            <a:ext cx="24414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18"/>
                </a:solidFill>
                <a:latin typeface="Calibri"/>
              </a:rPr>
              <a:t>Docker Deployment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445752" y="5449824"/>
            <a:ext cx="2441448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6860"/>
                </a:solidFill>
                <a:latin typeface="Calibri"/>
              </a:rPr>
              <a:t>One-command containerised startup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EC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A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DDD8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3D5C"/>
                </a:solidFill>
                <a:latin typeface="Calibri"/>
              </a:rPr>
              <a:t>TECHNOLOGY STACK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29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A3D5C"/>
                </a:solidFill>
                <a:latin typeface="Calibri"/>
              </a:rPr>
              <a:t>Full-Stack Technology Stack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07008"/>
            <a:ext cx="10698480" cy="27432"/>
          </a:xfrm>
          <a:prstGeom prst="rect">
            <a:avLst/>
          </a:prstGeom>
          <a:solidFill>
            <a:srgbClr val="DDD8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594360" y="1444752"/>
            <a:ext cx="3611880" cy="2148840"/>
          </a:xfrm>
          <a:prstGeom prst="roundRect">
            <a:avLst>
              <a:gd name="adj" fmla="val 6000"/>
            </a:avLst>
          </a:prstGeom>
          <a:solidFill>
            <a:srgbClr val="E8F0EB"/>
          </a:solidFill>
          <a:ln w="12700">
            <a:solidFill>
              <a:srgbClr val="DDD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94360" y="1444752"/>
            <a:ext cx="3611880" cy="411480"/>
          </a:xfrm>
          <a:prstGeom prst="rect">
            <a:avLst/>
          </a:prstGeom>
          <a:solidFill>
            <a:srgbClr val="1D5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31520" y="1508760"/>
            <a:ext cx="3337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Frontend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947672"/>
            <a:ext cx="3337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8"/>
                </a:solidFill>
                <a:latin typeface="Calibri"/>
              </a:rPr>
              <a:t>· Next.js 14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240280"/>
            <a:ext cx="3337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8"/>
                </a:solidFill>
                <a:latin typeface="Calibri"/>
              </a:rPr>
              <a:t>· React 19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532888"/>
            <a:ext cx="3337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8"/>
                </a:solidFill>
                <a:latin typeface="Calibri"/>
              </a:rPr>
              <a:t>· TypeScript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825496"/>
            <a:ext cx="3337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8"/>
                </a:solidFill>
                <a:latin typeface="Calibri"/>
              </a:rPr>
              <a:t>· Tailwind CSS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118104"/>
            <a:ext cx="3337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8"/>
                </a:solidFill>
                <a:latin typeface="Calibri"/>
              </a:rPr>
              <a:t>· Axios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71416" y="1444752"/>
            <a:ext cx="3611880" cy="2148840"/>
          </a:xfrm>
          <a:prstGeom prst="roundRect">
            <a:avLst>
              <a:gd name="adj" fmla="val 6000"/>
            </a:avLst>
          </a:prstGeom>
          <a:solidFill>
            <a:srgbClr val="FAF7F0"/>
          </a:solidFill>
          <a:ln w="12700">
            <a:solidFill>
              <a:srgbClr val="DDD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471416" y="1444752"/>
            <a:ext cx="3611880" cy="411480"/>
          </a:xfrm>
          <a:prstGeom prst="rect">
            <a:avLst/>
          </a:prstGeom>
          <a:solidFill>
            <a:srgbClr val="1A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608576" y="1508760"/>
            <a:ext cx="3337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Backend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08576" y="1947672"/>
            <a:ext cx="3337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8"/>
                </a:solidFill>
                <a:latin typeface="Calibri"/>
              </a:rPr>
              <a:t>· FastAPI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08576" y="2240280"/>
            <a:ext cx="3337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8"/>
                </a:solidFill>
                <a:latin typeface="Calibri"/>
              </a:rPr>
              <a:t>· Uvicorn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08576" y="2532888"/>
            <a:ext cx="3337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8"/>
                </a:solidFill>
                <a:latin typeface="Calibri"/>
              </a:rPr>
              <a:t>· Pydantic v2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08576" y="2825496"/>
            <a:ext cx="3337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8"/>
                </a:solidFill>
                <a:latin typeface="Calibri"/>
              </a:rPr>
              <a:t>· python-dotenv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08576" y="3118104"/>
            <a:ext cx="3337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8"/>
                </a:solidFill>
                <a:latin typeface="Calibri"/>
              </a:rPr>
              <a:t>· CORS Middleware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348472" y="1444752"/>
            <a:ext cx="3611880" cy="2148840"/>
          </a:xfrm>
          <a:prstGeom prst="roundRect">
            <a:avLst>
              <a:gd name="adj" fmla="val 6000"/>
            </a:avLst>
          </a:prstGeom>
          <a:solidFill>
            <a:srgbClr val="E8F0EB"/>
          </a:solidFill>
          <a:ln w="12700">
            <a:solidFill>
              <a:srgbClr val="DDD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8348472" y="1444752"/>
            <a:ext cx="3611880" cy="411480"/>
          </a:xfrm>
          <a:prstGeom prst="rect">
            <a:avLst/>
          </a:prstGeom>
          <a:solidFill>
            <a:srgbClr val="1D5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485632" y="1508760"/>
            <a:ext cx="3337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AI / ML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85632" y="1947672"/>
            <a:ext cx="3337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8"/>
                </a:solidFill>
                <a:latin typeface="Calibri"/>
              </a:rPr>
              <a:t>· sentence-transformers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85632" y="2240280"/>
            <a:ext cx="3337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8"/>
                </a:solidFill>
                <a:latin typeface="Calibri"/>
              </a:rPr>
              <a:t>· all-MiniLM-L6-v2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85632" y="2532888"/>
            <a:ext cx="3337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8"/>
                </a:solidFill>
                <a:latin typeface="Calibri"/>
              </a:rPr>
              <a:t>· ms-marco CrossEncoder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85632" y="2825496"/>
            <a:ext cx="3337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8"/>
                </a:solidFill>
                <a:latin typeface="Calibri"/>
              </a:rPr>
              <a:t>· Groq SDK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85632" y="3118104"/>
            <a:ext cx="3337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8"/>
                </a:solidFill>
                <a:latin typeface="Calibri"/>
              </a:rPr>
              <a:t>· llama-3.3-70b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94360" y="3822192"/>
            <a:ext cx="3611880" cy="2148840"/>
          </a:xfrm>
          <a:prstGeom prst="roundRect">
            <a:avLst>
              <a:gd name="adj" fmla="val 6000"/>
            </a:avLst>
          </a:prstGeom>
          <a:solidFill>
            <a:srgbClr val="FAF7F0"/>
          </a:solidFill>
          <a:ln w="12700">
            <a:solidFill>
              <a:srgbClr val="DDD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594360" y="3822192"/>
            <a:ext cx="3611880" cy="411480"/>
          </a:xfrm>
          <a:prstGeom prst="rect">
            <a:avLst/>
          </a:prstGeom>
          <a:solidFill>
            <a:srgbClr val="1A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731520" y="3886200"/>
            <a:ext cx="3337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Storage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4325112"/>
            <a:ext cx="3337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8"/>
                </a:solidFill>
                <a:latin typeface="Calibri"/>
              </a:rPr>
              <a:t>· ChromaDB (vector DB)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4617720"/>
            <a:ext cx="3337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8"/>
                </a:solidFill>
                <a:latin typeface="Calibri"/>
              </a:rPr>
              <a:t>· chunks.json (BM25 corpus)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1520" y="4910328"/>
            <a:ext cx="3337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8"/>
                </a:solidFill>
                <a:latin typeface="Calibri"/>
              </a:rPr>
              <a:t>· chat_logs.json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1520" y="5202936"/>
            <a:ext cx="3337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8"/>
                </a:solidFill>
                <a:latin typeface="Calibri"/>
              </a:rPr>
              <a:t>· File system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471416" y="3822192"/>
            <a:ext cx="3611880" cy="2148840"/>
          </a:xfrm>
          <a:prstGeom prst="roundRect">
            <a:avLst>
              <a:gd name="adj" fmla="val 6000"/>
            </a:avLst>
          </a:prstGeom>
          <a:solidFill>
            <a:srgbClr val="E8F0EB"/>
          </a:solidFill>
          <a:ln w="12700">
            <a:solidFill>
              <a:srgbClr val="DDD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4471416" y="3822192"/>
            <a:ext cx="3611880" cy="411480"/>
          </a:xfrm>
          <a:prstGeom prst="rect">
            <a:avLst/>
          </a:prstGeom>
          <a:solidFill>
            <a:srgbClr val="1D5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4608576" y="3886200"/>
            <a:ext cx="3337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Document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608576" y="4325112"/>
            <a:ext cx="3337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8"/>
                </a:solidFill>
                <a:latin typeface="Calibri"/>
              </a:rPr>
              <a:t>· pypdf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08576" y="4617720"/>
            <a:ext cx="3337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8"/>
                </a:solidFill>
                <a:latin typeface="Calibri"/>
              </a:rPr>
              <a:t>· python-docx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08576" y="4910328"/>
            <a:ext cx="3337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8"/>
                </a:solidFill>
                <a:latin typeface="Calibri"/>
              </a:rPr>
              <a:t>· openpyxl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08576" y="5202936"/>
            <a:ext cx="3337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8"/>
                </a:solidFill>
                <a:latin typeface="Calibri"/>
              </a:rPr>
              <a:t>· pandas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08576" y="5495544"/>
            <a:ext cx="3337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8"/>
                </a:solidFill>
                <a:latin typeface="Calibri"/>
              </a:rPr>
              <a:t>· rank-bm25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348472" y="3822192"/>
            <a:ext cx="3611880" cy="2148840"/>
          </a:xfrm>
          <a:prstGeom prst="roundRect">
            <a:avLst>
              <a:gd name="adj" fmla="val 6000"/>
            </a:avLst>
          </a:prstGeom>
          <a:solidFill>
            <a:srgbClr val="FAF7F0"/>
          </a:solidFill>
          <a:ln w="12700">
            <a:solidFill>
              <a:srgbClr val="DDD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ectangle 46"/>
          <p:cNvSpPr/>
          <p:nvPr/>
        </p:nvSpPr>
        <p:spPr>
          <a:xfrm>
            <a:off x="8348472" y="3822192"/>
            <a:ext cx="3611880" cy="411480"/>
          </a:xfrm>
          <a:prstGeom prst="rect">
            <a:avLst/>
          </a:prstGeom>
          <a:solidFill>
            <a:srgbClr val="1A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8485632" y="3886200"/>
            <a:ext cx="3337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DevOps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485632" y="4325112"/>
            <a:ext cx="3337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8"/>
                </a:solidFill>
                <a:latin typeface="Calibri"/>
              </a:rPr>
              <a:t>· Docker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485632" y="4617720"/>
            <a:ext cx="3337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8"/>
                </a:solidFill>
                <a:latin typeface="Calibri"/>
              </a:rPr>
              <a:t>· Docker Compose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485632" y="4910328"/>
            <a:ext cx="3337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8"/>
                </a:solidFill>
                <a:latin typeface="Calibri"/>
              </a:rPr>
              <a:t>· Makefile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485632" y="5202936"/>
            <a:ext cx="3337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8"/>
                </a:solidFill>
                <a:latin typeface="Calibri"/>
              </a:rPr>
              <a:t>· PowerShell scripts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EC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D5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DDD8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8A49C"/>
                </a:solidFill>
                <a:latin typeface="Calibri"/>
              </a:rPr>
              <a:t>API REFERENCE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29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D5037"/>
                </a:solidFill>
                <a:latin typeface="Calibri"/>
              </a:rPr>
              <a:t>7 REST Endpoints  ·  All Protected by X-API-Key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07008"/>
            <a:ext cx="10698480" cy="27432"/>
          </a:xfrm>
          <a:prstGeom prst="rect">
            <a:avLst/>
          </a:prstGeom>
          <a:solidFill>
            <a:srgbClr val="DDD8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594360" y="1371600"/>
            <a:ext cx="10698480" cy="384048"/>
          </a:xfrm>
          <a:prstGeom prst="roundRect">
            <a:avLst>
              <a:gd name="adj" fmla="val 6000"/>
            </a:avLst>
          </a:prstGeom>
          <a:solidFill>
            <a:srgbClr val="1D5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1435608"/>
            <a:ext cx="1005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Method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20240" y="1435608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Endpoint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0" y="1435608"/>
            <a:ext cx="6583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Description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4360" y="1828800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AF7F0"/>
          </a:solidFill>
          <a:ln w="12700">
            <a:solidFill>
              <a:srgbClr val="DDD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731520" y="1938528"/>
            <a:ext cx="777240" cy="384048"/>
          </a:xfrm>
          <a:prstGeom prst="roundRect">
            <a:avLst>
              <a:gd name="adj" fmla="val 6000"/>
            </a:avLst>
          </a:prstGeom>
          <a:solidFill>
            <a:srgbClr val="1D5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91640" y="1984248"/>
            <a:ext cx="2377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3D5C"/>
                </a:solidFill>
                <a:latin typeface="Calibri"/>
              </a:rPr>
              <a:t>/upload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43400" y="1984248"/>
            <a:ext cx="6583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8"/>
                </a:solidFill>
                <a:latin typeface="Calibri"/>
              </a:rPr>
              <a:t>Upload document (PDF / DOCX / TXT / CSV / JSON / MD)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4360" y="2487168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E8E2D3"/>
          </a:solidFill>
          <a:ln w="12700">
            <a:solidFill>
              <a:srgbClr val="DDD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731520" y="2596896"/>
            <a:ext cx="777240" cy="384048"/>
          </a:xfrm>
          <a:prstGeom prst="roundRect">
            <a:avLst>
              <a:gd name="adj" fmla="val 6000"/>
            </a:avLst>
          </a:prstGeom>
          <a:solidFill>
            <a:srgbClr val="1A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POST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91640" y="2642616"/>
            <a:ext cx="2377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3D5C"/>
                </a:solidFill>
                <a:latin typeface="Calibri"/>
              </a:rPr>
              <a:t>/reindex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43400" y="2642616"/>
            <a:ext cx="6583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8"/>
                </a:solidFill>
                <a:latin typeface="Calibri"/>
              </a:rPr>
              <a:t>Clear ChromaDB + chunks.json and rebuild from disk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4360" y="3145536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AF7F0"/>
          </a:solidFill>
          <a:ln w="12700">
            <a:solidFill>
              <a:srgbClr val="DDD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731520" y="3255264"/>
            <a:ext cx="777240" cy="384048"/>
          </a:xfrm>
          <a:prstGeom prst="roundRect">
            <a:avLst>
              <a:gd name="adj" fmla="val 6000"/>
            </a:avLst>
          </a:prstGeom>
          <a:solidFill>
            <a:srgbClr val="1D5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POST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91640" y="3300984"/>
            <a:ext cx="2377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3D5C"/>
                </a:solidFill>
                <a:latin typeface="Calibri"/>
              </a:rPr>
              <a:t>/ask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43400" y="3300984"/>
            <a:ext cx="6583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8"/>
                </a:solidFill>
                <a:latin typeface="Calibri"/>
              </a:rPr>
              <a:t>Ask a question — returns answer, citations, latency_ms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94360" y="3803904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E8E2D3"/>
          </a:solidFill>
          <a:ln w="12700">
            <a:solidFill>
              <a:srgbClr val="DDD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731520" y="3913632"/>
            <a:ext cx="777240" cy="384048"/>
          </a:xfrm>
          <a:prstGeom prst="roundRect">
            <a:avLst>
              <a:gd name="adj" fmla="val 6000"/>
            </a:avLst>
          </a:prstGeom>
          <a:solidFill>
            <a:srgbClr val="1A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POST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91640" y="3959352"/>
            <a:ext cx="2377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3D5C"/>
                </a:solidFill>
                <a:latin typeface="Calibri"/>
              </a:rPr>
              <a:t>/search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43400" y="3959352"/>
            <a:ext cx="6583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8"/>
                </a:solidFill>
                <a:latin typeface="Calibri"/>
              </a:rPr>
              <a:t>Semantic search — returns raw ranked chunks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94360" y="4462272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AF7F0"/>
          </a:solidFill>
          <a:ln w="12700">
            <a:solidFill>
              <a:srgbClr val="DDD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731520" y="4572000"/>
            <a:ext cx="777240" cy="384048"/>
          </a:xfrm>
          <a:prstGeom prst="roundRect">
            <a:avLst>
              <a:gd name="adj" fmla="val 6000"/>
            </a:avLst>
          </a:prstGeom>
          <a:solidFill>
            <a:srgbClr val="1D5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GET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91640" y="4617720"/>
            <a:ext cx="2377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3D5C"/>
                </a:solidFill>
                <a:latin typeface="Calibri"/>
              </a:rPr>
              <a:t>/eval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43400" y="4617720"/>
            <a:ext cx="6583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8"/>
                </a:solidFill>
                <a:latin typeface="Calibri"/>
              </a:rPr>
              <a:t>Compute Recall@K, Citation Coverage, Grounding, Latency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94360" y="5120640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E8E2D3"/>
          </a:solidFill>
          <a:ln w="12700">
            <a:solidFill>
              <a:srgbClr val="DDD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ounded Rectangle 31"/>
          <p:cNvSpPr/>
          <p:nvPr/>
        </p:nvSpPr>
        <p:spPr>
          <a:xfrm>
            <a:off x="731520" y="5230368"/>
            <a:ext cx="777240" cy="384048"/>
          </a:xfrm>
          <a:prstGeom prst="roundRect">
            <a:avLst>
              <a:gd name="adj" fmla="val 6000"/>
            </a:avLst>
          </a:prstGeom>
          <a:solidFill>
            <a:srgbClr val="1A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POST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691640" y="5276088"/>
            <a:ext cx="2377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3D5C"/>
                </a:solidFill>
                <a:latin typeface="Calibri"/>
              </a:rPr>
              <a:t>/export/docx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43400" y="5276088"/>
            <a:ext cx="6583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8"/>
                </a:solidFill>
                <a:latin typeface="Calibri"/>
              </a:rPr>
              <a:t>Export full chat history as a formatted .docx file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94360" y="5779008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AF7F0"/>
          </a:solidFill>
          <a:ln w="12700">
            <a:solidFill>
              <a:srgbClr val="DDD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ounded Rectangle 35"/>
          <p:cNvSpPr/>
          <p:nvPr/>
        </p:nvSpPr>
        <p:spPr>
          <a:xfrm>
            <a:off x="731520" y="5888736"/>
            <a:ext cx="777240" cy="384048"/>
          </a:xfrm>
          <a:prstGeom prst="roundRect">
            <a:avLst>
              <a:gd name="adj" fmla="val 6000"/>
            </a:avLst>
          </a:prstGeom>
          <a:solidFill>
            <a:srgbClr val="1D5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POST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691640" y="5934456"/>
            <a:ext cx="2377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3D5C"/>
                </a:solidFill>
                <a:latin typeface="Calibri"/>
              </a:rPr>
              <a:t>/export/excel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43400" y="5934456"/>
            <a:ext cx="6583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8"/>
                </a:solidFill>
                <a:latin typeface="Calibri"/>
              </a:rPr>
              <a:t>Export full chat history as a .xlsx spreadsheet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94360" y="6446520"/>
            <a:ext cx="10698480" cy="246888"/>
          </a:xfrm>
          <a:prstGeom prst="roundRect">
            <a:avLst>
              <a:gd name="adj" fmla="val 6000"/>
            </a:avLst>
          </a:prstGeom>
          <a:solidFill>
            <a:srgbClr val="E8F0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1D5037"/>
                </a:solidFill>
                <a:latin typeface="Calibri"/>
              </a:rPr>
              <a:t>All requests must include the  X-API-Key  header. Invalid or missing keys return HTTP 401 Unauthorized.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3D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1D5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245F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8F0EB"/>
                </a:solidFill>
                <a:latin typeface="Calibri"/>
              </a:rPr>
              <a:t>SECURITY &amp; ETHICAL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Built for Trust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207008"/>
            <a:ext cx="10515600" cy="32004"/>
          </a:xfrm>
          <a:prstGeom prst="rect">
            <a:avLst/>
          </a:prstGeom>
          <a:solidFill>
            <a:srgbClr val="1D5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594360" y="1554480"/>
            <a:ext cx="3611880" cy="2103120"/>
          </a:xfrm>
          <a:prstGeom prst="roundRect">
            <a:avLst>
              <a:gd name="adj" fmla="val 6000"/>
            </a:avLst>
          </a:prstGeom>
          <a:solidFill>
            <a:srgbClr val="245F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94360" y="1554480"/>
            <a:ext cx="3611880" cy="54864"/>
          </a:xfrm>
          <a:prstGeom prst="rect">
            <a:avLst/>
          </a:prstGeom>
          <a:solidFill>
            <a:srgbClr val="E8F0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58952" y="1719072"/>
            <a:ext cx="32918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API Key
Authentication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758952" y="2377440"/>
            <a:ext cx="3246120" cy="22860"/>
          </a:xfrm>
          <a:prstGeom prst="rect">
            <a:avLst/>
          </a:prstGeom>
          <a:solidFill>
            <a:srgbClr val="E8F0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58952" y="2487168"/>
            <a:ext cx="32918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F0EB"/>
                </a:solidFill>
                <a:latin typeface="Calibri"/>
              </a:rPr>
              <a:t>All 7 endpoints require X-API-Key. Keys stored in .env files — never in source code or Docker images.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71416" y="1554480"/>
            <a:ext cx="3611880" cy="2103120"/>
          </a:xfrm>
          <a:prstGeom prst="roundRect">
            <a:avLst>
              <a:gd name="adj" fmla="val 6000"/>
            </a:avLst>
          </a:prstGeom>
          <a:solidFill>
            <a:srgbClr val="1E4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471416" y="1554480"/>
            <a:ext cx="3611880" cy="54864"/>
          </a:xfrm>
          <a:prstGeom prst="rect">
            <a:avLst/>
          </a:prstGeom>
          <a:solidFill>
            <a:srgbClr val="E8F0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636008" y="1719072"/>
            <a:ext cx="32918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PII Redaction
Engine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636008" y="2377440"/>
            <a:ext cx="3246120" cy="22860"/>
          </a:xfrm>
          <a:prstGeom prst="rect">
            <a:avLst/>
          </a:prstGeom>
          <a:solidFill>
            <a:srgbClr val="E8F0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636008" y="2487168"/>
            <a:ext cx="32918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F0EB"/>
                </a:solidFill>
                <a:latin typeface="Calibri"/>
              </a:rPr>
              <a:t>4 regex patterns: email, phone (+91 / 10-digit), 12-digit Aadhaar-style IDs, credit/debit card numbers → [REDACTED]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348472" y="1554480"/>
            <a:ext cx="3611880" cy="2103120"/>
          </a:xfrm>
          <a:prstGeom prst="roundRect">
            <a:avLst>
              <a:gd name="adj" fmla="val 6000"/>
            </a:avLst>
          </a:prstGeom>
          <a:solidFill>
            <a:srgbClr val="245F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348472" y="1554480"/>
            <a:ext cx="3611880" cy="54864"/>
          </a:xfrm>
          <a:prstGeom prst="rect">
            <a:avLst/>
          </a:prstGeom>
          <a:solidFill>
            <a:srgbClr val="E8F0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513064" y="1719072"/>
            <a:ext cx="32918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Anti-Hallucination
Guardrails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513064" y="2377440"/>
            <a:ext cx="3246120" cy="22860"/>
          </a:xfrm>
          <a:prstGeom prst="rect">
            <a:avLst/>
          </a:prstGeom>
          <a:solidFill>
            <a:srgbClr val="E8F0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513064" y="2487168"/>
            <a:ext cx="32918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F0EB"/>
                </a:solidFill>
                <a:latin typeface="Calibri"/>
              </a:rPr>
              <a:t>Strict prompt forbids answers outside the retrieved context. Two-pass LLM verification rejects unsupported claims.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4360" y="3886200"/>
            <a:ext cx="3611880" cy="2103120"/>
          </a:xfrm>
          <a:prstGeom prst="roundRect">
            <a:avLst>
              <a:gd name="adj" fmla="val 6000"/>
            </a:avLst>
          </a:prstGeom>
          <a:solidFill>
            <a:srgbClr val="1E4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594360" y="3886200"/>
            <a:ext cx="3611880" cy="54864"/>
          </a:xfrm>
          <a:prstGeom prst="rect">
            <a:avLst/>
          </a:prstGeom>
          <a:solidFill>
            <a:srgbClr val="E8F0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58952" y="4050792"/>
            <a:ext cx="32918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Audit Logging
&amp; Compliance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8952" y="4709160"/>
            <a:ext cx="3246120" cy="22860"/>
          </a:xfrm>
          <a:prstGeom prst="rect">
            <a:avLst/>
          </a:prstGeom>
          <a:solidFill>
            <a:srgbClr val="E8F0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58952" y="4818888"/>
            <a:ext cx="32918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F0EB"/>
                </a:solidFill>
                <a:latin typeface="Calibri"/>
              </a:rPr>
              <a:t>Every query, answer, cited sources, chunk IDs, and latency written to logs/chat_logs.json with timestamp.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471416" y="3886200"/>
            <a:ext cx="3611880" cy="2103120"/>
          </a:xfrm>
          <a:prstGeom prst="roundRect">
            <a:avLst>
              <a:gd name="adj" fmla="val 6000"/>
            </a:avLst>
          </a:prstGeom>
          <a:solidFill>
            <a:srgbClr val="245F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4471416" y="3886200"/>
            <a:ext cx="3611880" cy="54864"/>
          </a:xfrm>
          <a:prstGeom prst="rect">
            <a:avLst/>
          </a:prstGeom>
          <a:solidFill>
            <a:srgbClr val="E8F0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636008" y="4050792"/>
            <a:ext cx="32918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Ethical AI
Principles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36008" y="4709160"/>
            <a:ext cx="3246120" cy="22860"/>
          </a:xfrm>
          <a:prstGeom prst="rect">
            <a:avLst/>
          </a:prstGeom>
          <a:solidFill>
            <a:srgbClr val="E8F0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636008" y="4818888"/>
            <a:ext cx="32918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F0EB"/>
                </a:solidFill>
                <a:latin typeface="Calibri"/>
              </a:rPr>
              <a:t>Grounded answers only · PII auto-redacted · Transparent citations · System states when no answer is found.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348472" y="3886200"/>
            <a:ext cx="3611880" cy="2103120"/>
          </a:xfrm>
          <a:prstGeom prst="roundRect">
            <a:avLst>
              <a:gd name="adj" fmla="val 6000"/>
            </a:avLst>
          </a:prstGeom>
          <a:solidFill>
            <a:srgbClr val="1E4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8348472" y="3886200"/>
            <a:ext cx="3611880" cy="54864"/>
          </a:xfrm>
          <a:prstGeom prst="rect">
            <a:avLst/>
          </a:prstGeom>
          <a:solidFill>
            <a:srgbClr val="E8F0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8513064" y="4050792"/>
            <a:ext cx="32918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Docker Secret
Management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513064" y="4709160"/>
            <a:ext cx="3246120" cy="22860"/>
          </a:xfrm>
          <a:prstGeom prst="rect">
            <a:avLst/>
          </a:prstGeom>
          <a:solidFill>
            <a:srgbClr val="E8F0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8513064" y="4818888"/>
            <a:ext cx="32918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F0EB"/>
                </a:solidFill>
                <a:latin typeface="Calibri"/>
              </a:rPr>
              <a:t>.env files listed in .dockerignore — secrets never baked into images. CORS origins configurable per environment.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EC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D5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DDD8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8A49C"/>
                </a:solidFill>
                <a:latin typeface="Calibri"/>
              </a:rPr>
              <a:t>EVALUATION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29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D5037"/>
                </a:solidFill>
                <a:latin typeface="Calibri"/>
              </a:rPr>
              <a:t>Automated Evaluation Framework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07008"/>
            <a:ext cx="10698480" cy="27432"/>
          </a:xfrm>
          <a:prstGeom prst="rect">
            <a:avLst/>
          </a:prstGeom>
          <a:solidFill>
            <a:srgbClr val="DDD8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594360" y="1444752"/>
            <a:ext cx="2697480" cy="3657600"/>
          </a:xfrm>
          <a:prstGeom prst="roundRect">
            <a:avLst>
              <a:gd name="adj" fmla="val 6000"/>
            </a:avLst>
          </a:prstGeom>
          <a:solidFill>
            <a:srgbClr val="FAF7F0"/>
          </a:solidFill>
          <a:ln w="12700">
            <a:solidFill>
              <a:srgbClr val="DDD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94360" y="1444752"/>
            <a:ext cx="2697480" cy="502920"/>
          </a:xfrm>
          <a:prstGeom prst="rect">
            <a:avLst/>
          </a:prstGeom>
          <a:solidFill>
            <a:srgbClr val="1D5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31520" y="1508760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Recall @ 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103120"/>
            <a:ext cx="24231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 dirty="0">
                <a:solidFill>
                  <a:srgbClr val="1A1A18"/>
                </a:solidFill>
                <a:latin typeface="Calibri"/>
              </a:rPr>
              <a:t>Fraction of queries where at least one relevant chunk was retrieved in the top-K results.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931920"/>
            <a:ext cx="2423160" cy="457200"/>
          </a:xfrm>
          <a:prstGeom prst="roundRect">
            <a:avLst>
              <a:gd name="adj" fmla="val 6000"/>
            </a:avLst>
          </a:prstGeom>
          <a:solidFill>
            <a:srgbClr val="E8F0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1D5037"/>
                </a:solidFill>
                <a:latin typeface="Calibri"/>
              </a:rPr>
              <a:t>hit / total_queries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02152" y="1444752"/>
            <a:ext cx="2697480" cy="3657600"/>
          </a:xfrm>
          <a:prstGeom prst="roundRect">
            <a:avLst>
              <a:gd name="adj" fmla="val 6000"/>
            </a:avLst>
          </a:prstGeom>
          <a:solidFill>
            <a:srgbClr val="FAF7F0"/>
          </a:solidFill>
          <a:ln w="12700">
            <a:solidFill>
              <a:srgbClr val="DDD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502152" y="1444752"/>
            <a:ext cx="2697480" cy="502920"/>
          </a:xfrm>
          <a:prstGeom prst="rect">
            <a:avLst/>
          </a:prstGeom>
          <a:solidFill>
            <a:srgbClr val="1A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639312" y="1508760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Citation Coverage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39312" y="2103120"/>
            <a:ext cx="24231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 dirty="0">
                <a:solidFill>
                  <a:srgbClr val="1A1A18"/>
                </a:solidFill>
                <a:latin typeface="Calibri"/>
              </a:rPr>
              <a:t>Average number of distinct source documents cited per answer — measures breadth of retrieval.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39312" y="3931920"/>
            <a:ext cx="2423160" cy="457200"/>
          </a:xfrm>
          <a:prstGeom prst="roundRect">
            <a:avLst>
              <a:gd name="adj" fmla="val 6000"/>
            </a:avLst>
          </a:prstGeom>
          <a:solidFill>
            <a:srgbClr val="E8F0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1D5037"/>
                </a:solidFill>
                <a:latin typeface="Calibri"/>
              </a:rPr>
              <a:t>mean(len(citations))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9944" y="1444752"/>
            <a:ext cx="2697480" cy="3657600"/>
          </a:xfrm>
          <a:prstGeom prst="roundRect">
            <a:avLst>
              <a:gd name="adj" fmla="val 6000"/>
            </a:avLst>
          </a:prstGeom>
          <a:solidFill>
            <a:srgbClr val="FAF7F0"/>
          </a:solidFill>
          <a:ln w="12700">
            <a:solidFill>
              <a:srgbClr val="DDD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409944" y="1444752"/>
            <a:ext cx="2697480" cy="502920"/>
          </a:xfrm>
          <a:prstGeom prst="rect">
            <a:avLst/>
          </a:prstGeom>
          <a:solidFill>
            <a:srgbClr val="245F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547104" y="1508760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Answer Grounding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47104" y="2103120"/>
            <a:ext cx="24231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8"/>
                </a:solidFill>
                <a:latin typeface="Calibri"/>
              </a:rPr>
              <a:t>Word-level token overlap between the generated answer and the retrieved context chunks.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47104" y="3931920"/>
            <a:ext cx="2423160" cy="457200"/>
          </a:xfrm>
          <a:prstGeom prst="roundRect">
            <a:avLst>
              <a:gd name="adj" fmla="val 6000"/>
            </a:avLst>
          </a:prstGeom>
          <a:solidFill>
            <a:srgbClr val="E8F0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1D5037"/>
                </a:solidFill>
                <a:latin typeface="Calibri"/>
              </a:rPr>
              <a:t>intersection(answer∩chunks) / len(answer)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317736" y="1444752"/>
            <a:ext cx="2697480" cy="3657600"/>
          </a:xfrm>
          <a:prstGeom prst="roundRect">
            <a:avLst>
              <a:gd name="adj" fmla="val 6000"/>
            </a:avLst>
          </a:prstGeom>
          <a:solidFill>
            <a:srgbClr val="FAF7F0"/>
          </a:solidFill>
          <a:ln w="12700">
            <a:solidFill>
              <a:srgbClr val="DDD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9317736" y="1444752"/>
            <a:ext cx="2697480" cy="502920"/>
          </a:xfrm>
          <a:prstGeom prst="rect">
            <a:avLst/>
          </a:prstGeom>
          <a:solidFill>
            <a:srgbClr val="1A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454896" y="1508760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Avg Latency (ms)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54896" y="2103120"/>
            <a:ext cx="24231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8"/>
                </a:solidFill>
                <a:latin typeface="Calibri"/>
              </a:rPr>
              <a:t>Mean end-to-end response time per query, logged automatically on every /ask call.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454896" y="3931920"/>
            <a:ext cx="2423160" cy="457200"/>
          </a:xfrm>
          <a:prstGeom prst="roundRect">
            <a:avLst>
              <a:gd name="adj" fmla="val 6000"/>
            </a:avLst>
          </a:prstGeom>
          <a:solidFill>
            <a:srgbClr val="E8F0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1D5037"/>
                </a:solidFill>
                <a:latin typeface="Calibri"/>
              </a:rPr>
              <a:t>mean(latency_ms)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94360" y="5440680"/>
            <a:ext cx="10698480" cy="1143000"/>
          </a:xfrm>
          <a:prstGeom prst="roundRect">
            <a:avLst>
              <a:gd name="adj" fmla="val 6000"/>
            </a:avLst>
          </a:prstGeom>
          <a:solidFill>
            <a:srgbClr val="E8F0EB"/>
          </a:solidFill>
          <a:ln w="12700">
            <a:solidFill>
              <a:srgbClr val="DDD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77240" y="55321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D5037"/>
                </a:solidFill>
                <a:latin typeface="Calibri"/>
              </a:rPr>
              <a:t>How to Run Evaluation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5833872"/>
            <a:ext cx="6400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8"/>
                </a:solidFill>
                <a:latin typeface="Calibri"/>
              </a:rPr>
              <a:t>cd server  →  python tools/eval_report.py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6144768"/>
            <a:ext cx="10058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6860"/>
                </a:solidFill>
                <a:latin typeface="Calibri"/>
              </a:rPr>
              <a:t>Output: exports/eval_report.png  (bar chart with all 4 metrics)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EC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A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DDD8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3D5C"/>
                </a:solidFill>
                <a:latin typeface="Calibri"/>
              </a:rPr>
              <a:t>DEPLOYMENT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29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 dirty="0">
                <a:solidFill>
                  <a:srgbClr val="1A3D5C"/>
                </a:solidFill>
                <a:latin typeface="Calibri"/>
              </a:rPr>
              <a:t>3 Ways to Run the Application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07008"/>
            <a:ext cx="10698480" cy="27432"/>
          </a:xfrm>
          <a:prstGeom prst="rect">
            <a:avLst/>
          </a:prstGeom>
          <a:solidFill>
            <a:srgbClr val="DDD8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594360" y="1444752"/>
            <a:ext cx="3611880" cy="5074920"/>
          </a:xfrm>
          <a:prstGeom prst="roundRect">
            <a:avLst>
              <a:gd name="adj" fmla="val 6000"/>
            </a:avLst>
          </a:prstGeom>
          <a:solidFill>
            <a:srgbClr val="FAF7F0"/>
          </a:solidFill>
          <a:ln w="12700">
            <a:solidFill>
              <a:srgbClr val="DDD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94360" y="1444752"/>
            <a:ext cx="3611880" cy="594360"/>
          </a:xfrm>
          <a:prstGeom prst="rect">
            <a:avLst/>
          </a:prstGeom>
          <a:solidFill>
            <a:srgbClr val="1D5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58952" y="1508760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 dirty="0">
                <a:solidFill>
                  <a:srgbClr val="FFFFFF"/>
                </a:solidFill>
                <a:latin typeface="Calibri"/>
              </a:rPr>
              <a:t>Option A
Manual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8952" y="2221992"/>
            <a:ext cx="3273552" cy="320040"/>
          </a:xfrm>
          <a:prstGeom prst="roundRect">
            <a:avLst>
              <a:gd name="adj" fmla="val 6000"/>
            </a:avLst>
          </a:prstGeom>
          <a:solidFill>
            <a:srgbClr val="E8F0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1D5037"/>
                </a:solidFill>
                <a:latin typeface="Calibri"/>
              </a:rPr>
              <a:t>Development / Local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8952" y="2697480"/>
            <a:ext cx="3273552" cy="685800"/>
          </a:xfrm>
          <a:prstGeom prst="roundRect">
            <a:avLst>
              <a:gd name="adj" fmla="val 6000"/>
            </a:avLst>
          </a:prstGeom>
          <a:solidFill>
            <a:srgbClr val="E8E2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000" b="0">
                <a:solidFill>
                  <a:srgbClr val="1A1A18"/>
                </a:solidFill>
                <a:latin typeface="Calibri"/>
              </a:rPr>
              <a:t>cd server &amp;&amp; pip install -r requirements.txt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58952" y="3502152"/>
            <a:ext cx="3273552" cy="685800"/>
          </a:xfrm>
          <a:prstGeom prst="roundRect">
            <a:avLst>
              <a:gd name="adj" fmla="val 6000"/>
            </a:avLst>
          </a:prstGeom>
          <a:solidFill>
            <a:srgbClr val="E8E2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000" b="0">
                <a:solidFill>
                  <a:srgbClr val="1A1A18"/>
                </a:solidFill>
                <a:latin typeface="Calibri"/>
              </a:rPr>
              <a:t>uvicorn api.main:app --reload --port 8000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8952" y="4306824"/>
            <a:ext cx="3273552" cy="685800"/>
          </a:xfrm>
          <a:prstGeom prst="roundRect">
            <a:avLst>
              <a:gd name="adj" fmla="val 6000"/>
            </a:avLst>
          </a:prstGeom>
          <a:solidFill>
            <a:srgbClr val="E8E2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000" b="0">
                <a:solidFill>
                  <a:srgbClr val="1A1A18"/>
                </a:solidFill>
                <a:latin typeface="Calibri"/>
              </a:rPr>
              <a:t>cd client &amp;&amp; npm install &amp;&amp; npm run dev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5111496"/>
            <a:ext cx="3273552" cy="685800"/>
          </a:xfrm>
          <a:prstGeom prst="roundRect">
            <a:avLst>
              <a:gd name="adj" fmla="val 6000"/>
            </a:avLst>
          </a:prstGeom>
          <a:solidFill>
            <a:srgbClr val="E8E2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000" b="0">
                <a:solidFill>
                  <a:srgbClr val="1A1A18"/>
                </a:solidFill>
                <a:latin typeface="Calibri"/>
              </a:rPr>
              <a:t>Open  http://localhost:3000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71416" y="1444752"/>
            <a:ext cx="3611880" cy="5074920"/>
          </a:xfrm>
          <a:prstGeom prst="roundRect">
            <a:avLst>
              <a:gd name="adj" fmla="val 6000"/>
            </a:avLst>
          </a:prstGeom>
          <a:solidFill>
            <a:srgbClr val="FAF7F0"/>
          </a:solidFill>
          <a:ln w="12700">
            <a:solidFill>
              <a:srgbClr val="DDD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471416" y="1444752"/>
            <a:ext cx="3611880" cy="594360"/>
          </a:xfrm>
          <a:prstGeom prst="rect">
            <a:avLst/>
          </a:prstGeom>
          <a:solidFill>
            <a:srgbClr val="1A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636008" y="1508760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 dirty="0">
                <a:solidFill>
                  <a:srgbClr val="FFFFFF"/>
                </a:solidFill>
                <a:latin typeface="Calibri"/>
              </a:rPr>
              <a:t>Option B
</a:t>
            </a:r>
            <a:r>
              <a:rPr sz="1400" b="1" i="0" dirty="0" err="1">
                <a:solidFill>
                  <a:srgbClr val="FFFFFF"/>
                </a:solidFill>
                <a:latin typeface="Calibri"/>
              </a:rPr>
              <a:t>Makefile</a:t>
            </a:r>
            <a:endParaRPr sz="1400" b="1" i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4636008" y="2221992"/>
            <a:ext cx="3273552" cy="320040"/>
          </a:xfrm>
          <a:prstGeom prst="roundRect">
            <a:avLst>
              <a:gd name="adj" fmla="val 6000"/>
            </a:avLst>
          </a:prstGeom>
          <a:solidFill>
            <a:srgbClr val="E8F0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1D5037"/>
                </a:solidFill>
                <a:latin typeface="Calibri"/>
              </a:rPr>
              <a:t>Standard Workflow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636008" y="2697480"/>
            <a:ext cx="3273552" cy="685800"/>
          </a:xfrm>
          <a:prstGeom prst="roundRect">
            <a:avLst>
              <a:gd name="adj" fmla="val 6000"/>
            </a:avLst>
          </a:prstGeom>
          <a:solidFill>
            <a:srgbClr val="E8E2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000" b="0">
                <a:solidFill>
                  <a:srgbClr val="1A1A18"/>
                </a:solidFill>
                <a:latin typeface="Calibri"/>
              </a:rPr>
              <a:t>make run        # Start both backend + frontend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636008" y="3502152"/>
            <a:ext cx="3273552" cy="685800"/>
          </a:xfrm>
          <a:prstGeom prst="roundRect">
            <a:avLst>
              <a:gd name="adj" fmla="val 6000"/>
            </a:avLst>
          </a:prstGeom>
          <a:solidFill>
            <a:srgbClr val="E8E2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000" b="0">
                <a:solidFill>
                  <a:srgbClr val="1A1A18"/>
                </a:solidFill>
                <a:latin typeface="Calibri"/>
              </a:rPr>
              <a:t>make reindex    # Rebuild vector index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636008" y="4306824"/>
            <a:ext cx="3273552" cy="685800"/>
          </a:xfrm>
          <a:prstGeom prst="roundRect">
            <a:avLst>
              <a:gd name="adj" fmla="val 6000"/>
            </a:avLst>
          </a:prstGeom>
          <a:solidFill>
            <a:srgbClr val="E8E2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000" b="0">
                <a:solidFill>
                  <a:srgbClr val="1A1A18"/>
                </a:solidFill>
                <a:latin typeface="Calibri"/>
              </a:rPr>
              <a:t>make eval       # Run evaluation report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636008" y="5111496"/>
            <a:ext cx="3273552" cy="685800"/>
          </a:xfrm>
          <a:prstGeom prst="roundRect">
            <a:avLst>
              <a:gd name="adj" fmla="val 6000"/>
            </a:avLst>
          </a:prstGeom>
          <a:solidFill>
            <a:srgbClr val="E8E2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000" b="0">
                <a:solidFill>
                  <a:srgbClr val="1A1A18"/>
                </a:solidFill>
                <a:latin typeface="Calibri"/>
              </a:rPr>
              <a:t>make docker-up  # Start Docker containers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348472" y="1444752"/>
            <a:ext cx="3611880" cy="5074920"/>
          </a:xfrm>
          <a:prstGeom prst="roundRect">
            <a:avLst>
              <a:gd name="adj" fmla="val 6000"/>
            </a:avLst>
          </a:prstGeom>
          <a:solidFill>
            <a:srgbClr val="FAF7F0"/>
          </a:solidFill>
          <a:ln w="12700">
            <a:solidFill>
              <a:srgbClr val="DDD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8348472" y="1444752"/>
            <a:ext cx="3611880" cy="594360"/>
          </a:xfrm>
          <a:prstGeom prst="rect">
            <a:avLst/>
          </a:prstGeom>
          <a:solidFill>
            <a:srgbClr val="245F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513064" y="1508760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Option C
Docker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513064" y="2221992"/>
            <a:ext cx="3273552" cy="320040"/>
          </a:xfrm>
          <a:prstGeom prst="roundRect">
            <a:avLst>
              <a:gd name="adj" fmla="val 6000"/>
            </a:avLst>
          </a:prstGeom>
          <a:solidFill>
            <a:srgbClr val="E8F0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1D5037"/>
                </a:solidFill>
                <a:latin typeface="Calibri"/>
              </a:rPr>
              <a:t>Production / Demo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513064" y="2697480"/>
            <a:ext cx="3273552" cy="685800"/>
          </a:xfrm>
          <a:prstGeom prst="roundRect">
            <a:avLst>
              <a:gd name="adj" fmla="val 6000"/>
            </a:avLst>
          </a:prstGeom>
          <a:solidFill>
            <a:srgbClr val="E8E2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000" b="0">
                <a:solidFill>
                  <a:srgbClr val="1A1A18"/>
                </a:solidFill>
                <a:latin typeface="Calibri"/>
              </a:rPr>
              <a:t>docker-compose build   # Build images (~10 min)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513064" y="3502152"/>
            <a:ext cx="3273552" cy="685800"/>
          </a:xfrm>
          <a:prstGeom prst="roundRect">
            <a:avLst>
              <a:gd name="adj" fmla="val 6000"/>
            </a:avLst>
          </a:prstGeom>
          <a:solidFill>
            <a:srgbClr val="E8E2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000" b="0">
                <a:solidFill>
                  <a:srgbClr val="1A1A18"/>
                </a:solidFill>
                <a:latin typeface="Calibri"/>
              </a:rPr>
              <a:t>docker-compose up -d   # Start containers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513064" y="4306824"/>
            <a:ext cx="3273552" cy="685800"/>
          </a:xfrm>
          <a:prstGeom prst="roundRect">
            <a:avLst>
              <a:gd name="adj" fmla="val 6000"/>
            </a:avLst>
          </a:prstGeom>
          <a:solidFill>
            <a:srgbClr val="E8E2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000" b="0">
                <a:solidFill>
                  <a:srgbClr val="1A1A18"/>
                </a:solidFill>
                <a:latin typeface="Calibri"/>
              </a:rPr>
              <a:t>docker-compose logs -f # Stream live logs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513064" y="5111496"/>
            <a:ext cx="3273552" cy="685800"/>
          </a:xfrm>
          <a:prstGeom prst="roundRect">
            <a:avLst>
              <a:gd name="adj" fmla="val 6000"/>
            </a:avLst>
          </a:prstGeom>
          <a:solidFill>
            <a:srgbClr val="E8E2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000" b="0">
                <a:solidFill>
                  <a:srgbClr val="1A1A18"/>
                </a:solidFill>
                <a:latin typeface="Calibri"/>
              </a:rPr>
              <a:t>docker-compose down    # Stop and clean up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94360" y="6126479"/>
            <a:ext cx="10698480" cy="292608"/>
          </a:xfrm>
          <a:prstGeom prst="roundRect">
            <a:avLst>
              <a:gd name="adj" fmla="val 6000"/>
            </a:avLst>
          </a:prstGeom>
          <a:solidFill>
            <a:srgbClr val="E8F0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 dirty="0">
                <a:solidFill>
                  <a:srgbClr val="1D5037"/>
                </a:solidFill>
                <a:latin typeface="Calibri"/>
              </a:rPr>
              <a:t>Required .env files:  server/.env  →  GROQ_API_KEY + API_KEY  ·  client/.env  →  NEXT_PUBLIC_API_KEY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EC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D5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DDD8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8A49C"/>
                </a:solidFill>
                <a:latin typeface="Calibri"/>
              </a:rPr>
              <a:t>REQUIREMENTS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29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D5037"/>
                </a:solidFill>
                <a:latin typeface="Calibri"/>
              </a:rPr>
              <a:t>Assignment Requirements — All Fulfilled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07008"/>
            <a:ext cx="10698480" cy="27432"/>
          </a:xfrm>
          <a:prstGeom prst="rect">
            <a:avLst/>
          </a:prstGeom>
          <a:solidFill>
            <a:srgbClr val="DDD8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594360" y="1444752"/>
            <a:ext cx="347472" cy="347472"/>
          </a:xfrm>
          <a:prstGeom prst="roundRect">
            <a:avLst>
              <a:gd name="adj" fmla="val 6000"/>
            </a:avLst>
          </a:prstGeom>
          <a:solidFill>
            <a:srgbClr val="1D5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1472184"/>
            <a:ext cx="4937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8"/>
                </a:solidFill>
                <a:latin typeface="Calibri"/>
              </a:rPr>
              <a:t>FastAPI backend with Pydantic models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193852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1D5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1965960"/>
            <a:ext cx="4937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dirty="0">
                <a:solidFill>
                  <a:srgbClr val="1A1A18"/>
                </a:solidFill>
                <a:latin typeface="Calibri"/>
              </a:rPr>
              <a:t>Multi-format document ingestion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4360" y="2432304"/>
            <a:ext cx="347472" cy="347472"/>
          </a:xfrm>
          <a:prstGeom prst="roundRect">
            <a:avLst>
              <a:gd name="adj" fmla="val 6000"/>
            </a:avLst>
          </a:prstGeom>
          <a:solidFill>
            <a:srgbClr val="1D5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2459736"/>
            <a:ext cx="4937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dirty="0">
                <a:solidFill>
                  <a:srgbClr val="1A1A18"/>
                </a:solidFill>
                <a:latin typeface="Calibri"/>
              </a:rPr>
              <a:t>Chunking with source metadata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2926080"/>
            <a:ext cx="347472" cy="347472"/>
          </a:xfrm>
          <a:prstGeom prst="roundRect">
            <a:avLst>
              <a:gd name="adj" fmla="val 6000"/>
            </a:avLst>
          </a:prstGeom>
          <a:solidFill>
            <a:srgbClr val="1D5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2953512"/>
            <a:ext cx="4937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dirty="0">
                <a:solidFill>
                  <a:srgbClr val="1A1A18"/>
                </a:solidFill>
                <a:latin typeface="Calibri"/>
              </a:rPr>
              <a:t>Vector embeddings (all-MiniLM-L6-v2)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4360" y="3419856"/>
            <a:ext cx="347472" cy="347472"/>
          </a:xfrm>
          <a:prstGeom prst="roundRect">
            <a:avLst>
              <a:gd name="adj" fmla="val 6000"/>
            </a:avLst>
          </a:prstGeom>
          <a:solidFill>
            <a:srgbClr val="1D5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3447288"/>
            <a:ext cx="4937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dirty="0" err="1">
                <a:solidFill>
                  <a:srgbClr val="1A1A18"/>
                </a:solidFill>
                <a:latin typeface="Calibri"/>
              </a:rPr>
              <a:t>ChromaDB</a:t>
            </a:r>
            <a:r>
              <a:rPr sz="1200" b="0" i="0" dirty="0">
                <a:solidFill>
                  <a:srgbClr val="1A1A18"/>
                </a:solidFill>
                <a:latin typeface="Calibri"/>
              </a:rPr>
              <a:t> persistent vector store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94360" y="3913632"/>
            <a:ext cx="347472" cy="347472"/>
          </a:xfrm>
          <a:prstGeom prst="roundRect">
            <a:avLst>
              <a:gd name="adj" fmla="val 6000"/>
            </a:avLst>
          </a:prstGeom>
          <a:solidFill>
            <a:srgbClr val="1D5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3941064"/>
            <a:ext cx="4937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dirty="0">
                <a:solidFill>
                  <a:srgbClr val="1A1A18"/>
                </a:solidFill>
                <a:latin typeface="Calibri"/>
              </a:rPr>
              <a:t>POST /search semantic search endpoint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4360" y="440740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1D5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" y="4434840"/>
            <a:ext cx="4937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dirty="0">
                <a:solidFill>
                  <a:srgbClr val="1A1A18"/>
                </a:solidFill>
                <a:latin typeface="Calibri"/>
              </a:rPr>
              <a:t>POST /ask with citations + chunks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94360" y="4901184"/>
            <a:ext cx="347472" cy="347472"/>
          </a:xfrm>
          <a:prstGeom prst="roundRect">
            <a:avLst>
              <a:gd name="adj" fmla="val 6000"/>
            </a:avLst>
          </a:prstGeom>
          <a:solidFill>
            <a:srgbClr val="1D5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" y="4928616"/>
            <a:ext cx="4937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dirty="0">
                <a:solidFill>
                  <a:srgbClr val="1A1A18"/>
                </a:solidFill>
                <a:latin typeface="Calibri"/>
              </a:rPr>
              <a:t>POST /reindex — clear &amp; rebuild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94360" y="5394960"/>
            <a:ext cx="347472" cy="347472"/>
          </a:xfrm>
          <a:prstGeom prst="roundRect">
            <a:avLst>
              <a:gd name="adj" fmla="val 6000"/>
            </a:avLst>
          </a:prstGeom>
          <a:solidFill>
            <a:srgbClr val="1D5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1560" y="5422392"/>
            <a:ext cx="4937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dirty="0">
                <a:solidFill>
                  <a:srgbClr val="1A1A18"/>
                </a:solidFill>
                <a:latin typeface="Calibri"/>
              </a:rPr>
              <a:t>Export to DOCX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94360" y="5888736"/>
            <a:ext cx="347472" cy="347472"/>
          </a:xfrm>
          <a:prstGeom prst="roundRect">
            <a:avLst>
              <a:gd name="adj" fmla="val 6000"/>
            </a:avLst>
          </a:prstGeom>
          <a:solidFill>
            <a:srgbClr val="1D5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1560" y="5916168"/>
            <a:ext cx="4937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dirty="0">
                <a:solidFill>
                  <a:srgbClr val="1A1A18"/>
                </a:solidFill>
                <a:latin typeface="Calibri"/>
              </a:rPr>
              <a:t>Export to Excel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63640" y="1444752"/>
            <a:ext cx="347472" cy="347472"/>
          </a:xfrm>
          <a:prstGeom prst="roundRect">
            <a:avLst>
              <a:gd name="adj" fmla="val 6000"/>
            </a:avLst>
          </a:prstGeom>
          <a:solidFill>
            <a:srgbClr val="1A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20840" y="1472184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dirty="0">
                <a:solidFill>
                  <a:srgbClr val="1A1A18"/>
                </a:solidFill>
                <a:latin typeface="Calibri"/>
              </a:rPr>
              <a:t>GET /eval evaluation endpoint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63640" y="193852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1A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20840" y="1965960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8"/>
                </a:solidFill>
                <a:latin typeface="Calibri"/>
              </a:rPr>
              <a:t>API Key auth on all 7 endpoints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63640" y="2432304"/>
            <a:ext cx="347472" cy="347472"/>
          </a:xfrm>
          <a:prstGeom prst="roundRect">
            <a:avLst>
              <a:gd name="adj" fmla="val 6000"/>
            </a:avLst>
          </a:prstGeom>
          <a:solidFill>
            <a:srgbClr val="1A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20840" y="2459736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dirty="0">
                <a:solidFill>
                  <a:srgbClr val="1A1A18"/>
                </a:solidFill>
                <a:latin typeface="Calibri"/>
              </a:rPr>
              <a:t>PII redaction — 4 pattern types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263640" y="2926080"/>
            <a:ext cx="347472" cy="347472"/>
          </a:xfrm>
          <a:prstGeom prst="roundRect">
            <a:avLst>
              <a:gd name="adj" fmla="val 6000"/>
            </a:avLst>
          </a:prstGeom>
          <a:solidFill>
            <a:srgbClr val="1A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20840" y="2953512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dirty="0">
                <a:solidFill>
                  <a:srgbClr val="1A1A18"/>
                </a:solidFill>
                <a:latin typeface="Calibri"/>
              </a:rPr>
              <a:t>Chat logging with timestamps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263640" y="3419856"/>
            <a:ext cx="347472" cy="347472"/>
          </a:xfrm>
          <a:prstGeom prst="roundRect">
            <a:avLst>
              <a:gd name="adj" fmla="val 6000"/>
            </a:avLst>
          </a:prstGeom>
          <a:solidFill>
            <a:srgbClr val="1A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720840" y="3447288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dirty="0">
                <a:solidFill>
                  <a:srgbClr val="1A1A18"/>
                </a:solidFill>
                <a:latin typeface="Calibri"/>
              </a:rPr>
              <a:t>Evaluation chart (eval_report.png)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263640" y="3913632"/>
            <a:ext cx="347472" cy="347472"/>
          </a:xfrm>
          <a:prstGeom prst="roundRect">
            <a:avLst>
              <a:gd name="adj" fmla="val 6000"/>
            </a:avLst>
          </a:prstGeom>
          <a:solidFill>
            <a:srgbClr val="1A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20840" y="3941064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dirty="0">
                <a:solidFill>
                  <a:srgbClr val="1A1A18"/>
                </a:solidFill>
                <a:latin typeface="Calibri"/>
              </a:rPr>
              <a:t>Next.js + TypeScript + Tailwind CSS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263640" y="440740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1A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720840" y="4434840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dirty="0">
                <a:solidFill>
                  <a:srgbClr val="1A1A18"/>
                </a:solidFill>
                <a:latin typeface="Calibri"/>
              </a:rPr>
              <a:t>Document upload via frontend UI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263640" y="4901184"/>
            <a:ext cx="347472" cy="347472"/>
          </a:xfrm>
          <a:prstGeom prst="roundRect">
            <a:avLst>
              <a:gd name="adj" fmla="val 6000"/>
            </a:avLst>
          </a:prstGeom>
          <a:solidFill>
            <a:srgbClr val="1A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720840" y="4928616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dirty="0">
                <a:solidFill>
                  <a:srgbClr val="1A1A18"/>
                </a:solidFill>
                <a:latin typeface="Calibri"/>
              </a:rPr>
              <a:t>Docker </a:t>
            </a:r>
            <a:r>
              <a:rPr sz="1200" b="0" i="0" dirty="0" err="1">
                <a:solidFill>
                  <a:srgbClr val="1A1A18"/>
                </a:solidFill>
                <a:latin typeface="Calibri"/>
              </a:rPr>
              <a:t>containerisation</a:t>
            </a:r>
            <a:endParaRPr sz="1200" b="0" i="0" dirty="0">
              <a:solidFill>
                <a:srgbClr val="1A1A18"/>
              </a:solidFill>
              <a:latin typeface="Calibri"/>
            </a:endParaRPr>
          </a:p>
        </p:txBody>
      </p:sp>
      <p:sp>
        <p:nvSpPr>
          <p:cNvPr id="43" name="Rounded Rectangle 42"/>
          <p:cNvSpPr/>
          <p:nvPr/>
        </p:nvSpPr>
        <p:spPr>
          <a:xfrm>
            <a:off x="6263640" y="5394960"/>
            <a:ext cx="347472" cy="347472"/>
          </a:xfrm>
          <a:prstGeom prst="roundRect">
            <a:avLst>
              <a:gd name="adj" fmla="val 6000"/>
            </a:avLst>
          </a:prstGeom>
          <a:solidFill>
            <a:srgbClr val="1A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720840" y="5422392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8"/>
                </a:solidFill>
                <a:latin typeface="Calibri"/>
              </a:rPr>
              <a:t>Root README with architecture diagram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263640" y="5888736"/>
            <a:ext cx="347472" cy="347472"/>
          </a:xfrm>
          <a:prstGeom prst="roundRect">
            <a:avLst>
              <a:gd name="adj" fmla="val 6000"/>
            </a:avLst>
          </a:prstGeom>
          <a:solidFill>
            <a:srgbClr val="1A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720840" y="5916168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8"/>
                </a:solidFill>
                <a:latin typeface="Calibri"/>
              </a:rPr>
              <a:t>Makefile + PowerShell scripts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989320" y="1444752"/>
            <a:ext cx="27432" cy="4937760"/>
          </a:xfrm>
          <a:prstGeom prst="rect">
            <a:avLst/>
          </a:prstGeom>
          <a:solidFill>
            <a:srgbClr val="DDD8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ounded Rectangle 47"/>
          <p:cNvSpPr/>
          <p:nvPr/>
        </p:nvSpPr>
        <p:spPr>
          <a:xfrm>
            <a:off x="9692640" y="202175"/>
            <a:ext cx="1691640" cy="822960"/>
          </a:xfrm>
          <a:prstGeom prst="roundRect">
            <a:avLst>
              <a:gd name="adj" fmla="val 6000"/>
            </a:avLst>
          </a:prstGeom>
          <a:solidFill>
            <a:srgbClr val="1D5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20 / 20
Requirements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EC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D5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DDD8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8A49C"/>
                </a:solidFill>
                <a:latin typeface="Calibri"/>
              </a:rPr>
              <a:t>USER 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29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D5037"/>
                </a:solidFill>
                <a:latin typeface="Calibri"/>
              </a:rPr>
              <a:t>How to Use the Application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07008"/>
            <a:ext cx="10698480" cy="27432"/>
          </a:xfrm>
          <a:prstGeom prst="rect">
            <a:avLst/>
          </a:prstGeom>
          <a:solidFill>
            <a:srgbClr val="DDD8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594360" y="1554480"/>
            <a:ext cx="2148840" cy="4754880"/>
          </a:xfrm>
          <a:prstGeom prst="roundRect">
            <a:avLst>
              <a:gd name="adj" fmla="val 6000"/>
            </a:avLst>
          </a:prstGeom>
          <a:solidFill>
            <a:srgbClr val="FAF7F0"/>
          </a:solidFill>
          <a:ln w="12700">
            <a:solidFill>
              <a:srgbClr val="DDD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1325880" y="1691640"/>
            <a:ext cx="685800" cy="685800"/>
          </a:xfrm>
          <a:prstGeom prst="roundRect">
            <a:avLst>
              <a:gd name="adj" fmla="val 6000"/>
            </a:avLst>
          </a:prstGeom>
          <a:solidFill>
            <a:srgbClr val="1D5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514600"/>
            <a:ext cx="187451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18"/>
                </a:solidFill>
                <a:latin typeface="Calibri"/>
              </a:rPr>
              <a:t>Upload
Documents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3182112"/>
            <a:ext cx="1828800" cy="22860"/>
          </a:xfrm>
          <a:prstGeom prst="rect">
            <a:avLst/>
          </a:prstGeom>
          <a:solidFill>
            <a:srgbClr val="1D5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31520" y="3291840"/>
            <a:ext cx="1901952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6860"/>
                </a:solidFill>
                <a:latin typeface="Calibri"/>
              </a:rPr>
              <a:t>Click 'Upload Document' in the sidebar.
Supported: PDF, DOCX, TXT, CSV, JSON, MD.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3566160"/>
            <a:ext cx="182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D5037"/>
                </a:solidFill>
                <a:latin typeface="Calibri"/>
              </a:rPr>
              <a:t>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935224" y="1554480"/>
            <a:ext cx="2148840" cy="4754880"/>
          </a:xfrm>
          <a:prstGeom prst="roundRect">
            <a:avLst>
              <a:gd name="adj" fmla="val 6000"/>
            </a:avLst>
          </a:prstGeom>
          <a:solidFill>
            <a:srgbClr val="FAF7F0"/>
          </a:solidFill>
          <a:ln w="12700">
            <a:solidFill>
              <a:srgbClr val="DDD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3666744" y="1691640"/>
            <a:ext cx="685800" cy="685800"/>
          </a:xfrm>
          <a:prstGeom prst="roundRect">
            <a:avLst>
              <a:gd name="adj" fmla="val 6000"/>
            </a:avLst>
          </a:prstGeom>
          <a:solidFill>
            <a:srgbClr val="1A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72384" y="2514600"/>
            <a:ext cx="187451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18"/>
                </a:solidFill>
                <a:latin typeface="Calibri"/>
              </a:rPr>
              <a:t>Re-Index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072384" y="3182112"/>
            <a:ext cx="1828800" cy="22860"/>
          </a:xfrm>
          <a:prstGeom prst="rect">
            <a:avLst/>
          </a:prstGeom>
          <a:solidFill>
            <a:srgbClr val="1A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072384" y="3291840"/>
            <a:ext cx="1901952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6860"/>
                </a:solidFill>
                <a:latin typeface="Calibri"/>
              </a:rPr>
              <a:t>Click 'Re-Index' to rebuild ChromaDB.
Run after any new uploads.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29784" y="3566160"/>
            <a:ext cx="182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D5037"/>
                </a:solidFill>
                <a:latin typeface="Calibri"/>
              </a:rPr>
              <a:t>▶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276088" y="1554480"/>
            <a:ext cx="2148840" cy="4754880"/>
          </a:xfrm>
          <a:prstGeom prst="roundRect">
            <a:avLst>
              <a:gd name="adj" fmla="val 6000"/>
            </a:avLst>
          </a:prstGeom>
          <a:solidFill>
            <a:srgbClr val="FAF7F0"/>
          </a:solidFill>
          <a:ln w="12700">
            <a:solidFill>
              <a:srgbClr val="DDD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6007608" y="1691640"/>
            <a:ext cx="685800" cy="685800"/>
          </a:xfrm>
          <a:prstGeom prst="roundRect">
            <a:avLst>
              <a:gd name="adj" fmla="val 6000"/>
            </a:avLst>
          </a:prstGeom>
          <a:solidFill>
            <a:srgbClr val="1D5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13248" y="2514600"/>
            <a:ext cx="187451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18"/>
                </a:solidFill>
                <a:latin typeface="Calibri"/>
              </a:rPr>
              <a:t>Ask a
Question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13248" y="3182112"/>
            <a:ext cx="1828800" cy="22860"/>
          </a:xfrm>
          <a:prstGeom prst="rect">
            <a:avLst/>
          </a:prstGeom>
          <a:solidFill>
            <a:srgbClr val="1D5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413248" y="3291840"/>
            <a:ext cx="1901952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6860"/>
                </a:solidFill>
                <a:latin typeface="Calibri"/>
              </a:rPr>
              <a:t>Type your question in the chat input.
The system searches all indexed documents.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70648" y="3566160"/>
            <a:ext cx="182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D5037"/>
                </a:solidFill>
                <a:latin typeface="Calibri"/>
              </a:rPr>
              <a:t>▶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616952" y="1554480"/>
            <a:ext cx="2148840" cy="4754880"/>
          </a:xfrm>
          <a:prstGeom prst="roundRect">
            <a:avLst>
              <a:gd name="adj" fmla="val 6000"/>
            </a:avLst>
          </a:prstGeom>
          <a:solidFill>
            <a:srgbClr val="FAF7F0"/>
          </a:solidFill>
          <a:ln w="12700">
            <a:solidFill>
              <a:srgbClr val="DDD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8348472" y="1691640"/>
            <a:ext cx="685800" cy="685800"/>
          </a:xfrm>
          <a:prstGeom prst="roundRect">
            <a:avLst>
              <a:gd name="adj" fmla="val 6000"/>
            </a:avLst>
          </a:prstGeom>
          <a:solidFill>
            <a:srgbClr val="1A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54112" y="2514600"/>
            <a:ext cx="187451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18"/>
                </a:solidFill>
                <a:latin typeface="Calibri"/>
              </a:rPr>
              <a:t>View Answer
+ Citations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754112" y="3182112"/>
            <a:ext cx="1828800" cy="22860"/>
          </a:xfrm>
          <a:prstGeom prst="rect">
            <a:avLst/>
          </a:prstGeom>
          <a:solidFill>
            <a:srgbClr val="1A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7754112" y="3291840"/>
            <a:ext cx="1901952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6860"/>
                </a:solidFill>
                <a:latin typeface="Calibri"/>
              </a:rPr>
              <a:t>Answer appears with source document names.
Toggle JSON to see raw retrieved chunks.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11512" y="3566160"/>
            <a:ext cx="182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D5037"/>
                </a:solidFill>
                <a:latin typeface="Calibri"/>
              </a:rPr>
              <a:t>▶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957816" y="1554480"/>
            <a:ext cx="2148840" cy="4754880"/>
          </a:xfrm>
          <a:prstGeom prst="roundRect">
            <a:avLst>
              <a:gd name="adj" fmla="val 6000"/>
            </a:avLst>
          </a:prstGeom>
          <a:solidFill>
            <a:srgbClr val="FAF7F0"/>
          </a:solidFill>
          <a:ln w="12700">
            <a:solidFill>
              <a:srgbClr val="DDD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ounded Rectangle 31"/>
          <p:cNvSpPr/>
          <p:nvPr/>
        </p:nvSpPr>
        <p:spPr>
          <a:xfrm>
            <a:off x="10689336" y="1691640"/>
            <a:ext cx="685800" cy="685800"/>
          </a:xfrm>
          <a:prstGeom prst="roundRect">
            <a:avLst>
              <a:gd name="adj" fmla="val 6000"/>
            </a:avLst>
          </a:prstGeom>
          <a:solidFill>
            <a:srgbClr val="245F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94976" y="2514600"/>
            <a:ext cx="187451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18"/>
                </a:solidFill>
                <a:latin typeface="Calibri"/>
              </a:rPr>
              <a:t>Export
History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094976" y="3182112"/>
            <a:ext cx="1828800" cy="22860"/>
          </a:xfrm>
          <a:prstGeom prst="rect">
            <a:avLst/>
          </a:prstGeom>
          <a:solidFill>
            <a:srgbClr val="245F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10094976" y="3291840"/>
            <a:ext cx="1901952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6860"/>
                </a:solidFill>
                <a:latin typeface="Calibri"/>
              </a:rPr>
              <a:t>Click 'Export DOCX' or 'Export Excel'.
Downloads full conversation with all answers.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94360" y="6053328"/>
            <a:ext cx="10698480" cy="292608"/>
          </a:xfrm>
          <a:prstGeom prst="roundRect">
            <a:avLst>
              <a:gd name="adj" fmla="val 6000"/>
            </a:avLst>
          </a:prstGeom>
          <a:solidFill>
            <a:srgbClr val="E8F0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 dirty="0">
                <a:solidFill>
                  <a:srgbClr val="1D5037"/>
                </a:solidFill>
                <a:latin typeface="Calibri"/>
              </a:rPr>
              <a:t>Access the app at  http://localhost:3000  after running  make run  or  docker-compose up -d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D503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F2EC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9445752" y="0"/>
            <a:ext cx="2743200" cy="6858000"/>
          </a:xfrm>
          <a:prstGeom prst="rect">
            <a:avLst/>
          </a:prstGeom>
          <a:solidFill>
            <a:srgbClr val="245F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1A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57200" y="0"/>
            <a:ext cx="8988552" cy="50292"/>
          </a:xfrm>
          <a:prstGeom prst="rect">
            <a:avLst/>
          </a:prstGeom>
          <a:solidFill>
            <a:srgbClr val="1A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6459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8F0EB"/>
                </a:solidFill>
                <a:latin typeface="Calibri"/>
              </a:rPr>
              <a:t>SUMMARY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502920"/>
            <a:ext cx="8686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Key Achievements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1207008"/>
            <a:ext cx="8503920" cy="32004"/>
          </a:xfrm>
          <a:prstGeom prst="rect">
            <a:avLst/>
          </a:prstGeom>
          <a:solidFill>
            <a:srgbClr val="245F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685800" y="1417320"/>
            <a:ext cx="347472" cy="365760"/>
          </a:xfrm>
          <a:prstGeom prst="roundRect">
            <a:avLst>
              <a:gd name="adj" fmla="val 6000"/>
            </a:avLst>
          </a:prstGeom>
          <a:solidFill>
            <a:srgbClr val="1A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70432" y="1453896"/>
            <a:ext cx="7772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2ECE0"/>
                </a:solidFill>
                <a:latin typeface="Calibri"/>
              </a:rPr>
              <a:t>4-stage hybrid retrieval — bi-encoder + BM25 + RRF + cross-encoder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039112"/>
            <a:ext cx="347472" cy="365760"/>
          </a:xfrm>
          <a:prstGeom prst="roundRect">
            <a:avLst>
              <a:gd name="adj" fmla="val 6000"/>
            </a:avLst>
          </a:prstGeom>
          <a:solidFill>
            <a:srgbClr val="1A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70432" y="2075688"/>
            <a:ext cx="7772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2ECE0"/>
                </a:solidFill>
                <a:latin typeface="Calibri"/>
              </a:rPr>
              <a:t>Two-pass LLM verification to eliminate hallucination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2660904"/>
            <a:ext cx="347472" cy="365760"/>
          </a:xfrm>
          <a:prstGeom prst="roundRect">
            <a:avLst>
              <a:gd name="adj" fmla="val 6000"/>
            </a:avLst>
          </a:prstGeom>
          <a:solidFill>
            <a:srgbClr val="1A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70432" y="2697480"/>
            <a:ext cx="7772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2ECE0"/>
                </a:solidFill>
                <a:latin typeface="Calibri"/>
              </a:rPr>
              <a:t>Automated PII redaction before every response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3282696"/>
            <a:ext cx="347472" cy="365760"/>
          </a:xfrm>
          <a:prstGeom prst="roundRect">
            <a:avLst>
              <a:gd name="adj" fmla="val 6000"/>
            </a:avLst>
          </a:prstGeom>
          <a:solidFill>
            <a:srgbClr val="1A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70432" y="3319272"/>
            <a:ext cx="7772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2ECE0"/>
                </a:solidFill>
                <a:latin typeface="Calibri"/>
              </a:rPr>
              <a:t>20 / 20 assignment requirements fulfilled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3904488"/>
            <a:ext cx="347472" cy="365760"/>
          </a:xfrm>
          <a:prstGeom prst="roundRect">
            <a:avLst>
              <a:gd name="adj" fmla="val 6000"/>
            </a:avLst>
          </a:prstGeom>
          <a:solidFill>
            <a:srgbClr val="1A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70432" y="3941064"/>
            <a:ext cx="7772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2ECE0"/>
                </a:solidFill>
                <a:latin typeface="Calibri"/>
              </a:rPr>
              <a:t>Full-stack product: FastAPI backend + Next.js frontend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4526280"/>
            <a:ext cx="347472" cy="365760"/>
          </a:xfrm>
          <a:prstGeom prst="roundRect">
            <a:avLst>
              <a:gd name="adj" fmla="val 6000"/>
            </a:avLst>
          </a:prstGeom>
          <a:solidFill>
            <a:srgbClr val="1A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70432" y="4562856"/>
            <a:ext cx="7772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2ECE0"/>
                </a:solidFill>
                <a:latin typeface="Calibri"/>
              </a:rPr>
              <a:t>Docker + Makefile for one-command deployment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5148072"/>
            <a:ext cx="347472" cy="365760"/>
          </a:xfrm>
          <a:prstGeom prst="roundRect">
            <a:avLst>
              <a:gd name="adj" fmla="val 6000"/>
            </a:avLst>
          </a:prstGeom>
          <a:solidFill>
            <a:srgbClr val="1A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70432" y="5184648"/>
            <a:ext cx="7772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2ECE0"/>
                </a:solidFill>
                <a:latin typeface="Calibri"/>
              </a:rPr>
              <a:t>Evaluation framework with 4 automated metrics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74352" y="1645920"/>
            <a:ext cx="2286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Thank
You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674352" y="3337560"/>
            <a:ext cx="2286000" cy="27432"/>
          </a:xfrm>
          <a:prstGeom prst="rect">
            <a:avLst/>
          </a:prstGeom>
          <a:solidFill>
            <a:srgbClr val="F2EC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674352" y="3456432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2ECE0"/>
                </a:solidFill>
                <a:latin typeface="Calibri"/>
              </a:rPr>
              <a:t>Questions welcome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74352" y="3977639"/>
            <a:ext cx="228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E8F0EB"/>
                </a:solidFill>
                <a:latin typeface="Calibri"/>
              </a:rPr>
              <a:t>Vivek Pramanik
May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78</TotalTime>
  <Words>1820</Words>
  <Application>Microsoft Office PowerPoint</Application>
  <PresentationFormat>Custom</PresentationFormat>
  <Paragraphs>358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vivekpramanik.dev@gmail.com</cp:lastModifiedBy>
  <cp:revision>9</cp:revision>
  <dcterms:created xsi:type="dcterms:W3CDTF">2013-01-27T09:14:16Z</dcterms:created>
  <dcterms:modified xsi:type="dcterms:W3CDTF">2026-05-21T07:35:40Z</dcterms:modified>
  <cp:category/>
</cp:coreProperties>
</file>