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2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36576" cy="6858000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0"/>
            <a:ext cx="8769096" cy="50292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ENTERPRISE AI APPLICATION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772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AI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7772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2ECE0"/>
                </a:solidFill>
                <a:latin typeface="Calibri"/>
              </a:rPr>
              <a:t>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4114800" cy="36576"/>
          </a:xfrm>
          <a:prstGeom prst="rect">
            <a:avLst/>
          </a:prstGeom>
          <a:solidFill>
            <a:srgbClr val="F2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2ECE0"/>
                </a:solidFill>
                <a:latin typeface="Calibri"/>
              </a:rPr>
              <a:t>Enterprise RAG-Powered Document Q&amp;A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050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A49C"/>
                </a:solidFill>
                <a:latin typeface="Calibri"/>
              </a:rPr>
              <a:t>Upload documents  ·  Ask questions  ·  Get cited, grounded answers in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09160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2ECE0"/>
                </a:solidFill>
                <a:latin typeface="Calibr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709160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2ECE0"/>
                </a:solidFill>
                <a:latin typeface="Calibri"/>
              </a:rPr>
              <a:t>ChromaDB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709160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2ECE0"/>
                </a:solidFill>
                <a:latin typeface="Calibri"/>
              </a:rPr>
              <a:t>Groq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09160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2ECE0"/>
                </a:solidFill>
                <a:latin typeface="Calibri"/>
              </a:rPr>
              <a:t>Next.js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709160"/>
            <a:ext cx="1691640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2ECE0"/>
                </a:solidFill>
                <a:latin typeface="Calibri"/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49C"/>
                </a:solidFill>
                <a:latin typeface="Calibri"/>
              </a:rPr>
              <a:t>Vivek Pramanik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F0EB"/>
                </a:solidFill>
                <a:latin typeface="Calibri"/>
              </a:rPr>
              <a:t>RAG
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EB"/>
                </a:solidFill>
                <a:latin typeface="Calibri"/>
              </a:rPr>
              <a:t>Vector · BM25 · Cross-Encoder ·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05840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81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10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Why enterprises struggle with document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2608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Solution &amp;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73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How the RAG pipeline solves it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8912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074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Hybrid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Bi-Encoder + BM25 + RRF + Cross-Encoder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46304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481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10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13 production-grade capabilities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92608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Tech Stack &amp;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Libraries, endpoints, and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38912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4074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8"/>
                </a:solidFill>
                <a:latin typeface="Calibri"/>
              </a:rPr>
              <a:t>Evaluation &amp;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Metrics, PII redaction, and audit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463040"/>
            <a:ext cx="27432" cy="5029200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D5C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D5C"/>
                </a:solidFill>
                <a:latin typeface="Calibri"/>
              </a:rPr>
              <a:t>Why Document Search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3716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Manual Search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Employees waste hours scanning hundreds of PDFs, SOPs, and policy docs to find one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718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971800"/>
            <a:ext cx="73152" cy="13716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Keyword Search is Insufficient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Traditional search returns irrelevant noise and misses semantic meaning entirely.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262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4526280"/>
            <a:ext cx="73152" cy="13716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36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Public LLMs Lack Private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ChatGPT and similar tools have no access to internal company documents or proprietary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4173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1417320"/>
            <a:ext cx="73152" cy="13716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Hallucination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874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LLMs without grounding fabricate facts — dangerous in HR, legal, and compliance contexts.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9718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37960" y="2971800"/>
            <a:ext cx="73152" cy="137160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PII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29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AI systems can expose emails, phone numbers, and IDs present in source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E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One System. Every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07008"/>
            <a:ext cx="10058400" cy="32004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651760" cy="4389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265176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dirty="0">
                <a:solidFill>
                  <a:srgbClr val="E8F0EB"/>
                </a:solidFill>
                <a:latin typeface="Calibri"/>
              </a:rPr>
              <a:t>1</a:t>
            </a:r>
            <a:endParaRPr sz="2200" b="1" i="0" dirty="0">
              <a:solidFill>
                <a:srgbClr val="E8F0E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Private &amp;
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49C"/>
                </a:solidFill>
                <a:latin typeface="Calibri"/>
              </a:rPr>
              <a:t>Answers drawn exclusively from your uploaded documents — never from hallucinated knowledge.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554480"/>
            <a:ext cx="2651760" cy="4389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02152" y="1554480"/>
            <a:ext cx="265176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755648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0E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Multi-Stage
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127248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49C"/>
                </a:solidFill>
                <a:latin typeface="Calibri"/>
              </a:rPr>
              <a:t>Bi-encoder + BM25 + RRF + Cross-Encoder pipeline delivers higher recall and precision.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554480"/>
            <a:ext cx="2651760" cy="4389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9944" y="1554480"/>
            <a:ext cx="265176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74536" y="1755648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0E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Anti-Hallucination
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127248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49C"/>
                </a:solidFill>
                <a:latin typeface="Calibri"/>
              </a:rPr>
              <a:t>Two-pass LLM calls: generate → verify faithfulness — before any answer reaches the user.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554480"/>
            <a:ext cx="2651760" cy="4389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17736" y="1554480"/>
            <a:ext cx="265176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1755648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0E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2402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Secure &amp;
Audit-Ready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127248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49C"/>
                </a:solidFill>
                <a:latin typeface="Calibri"/>
              </a:rPr>
              <a:t>API key auth, PII redaction, full query logging, and Docker deployment out of the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A1A18"/>
                </a:solidFill>
                <a:latin typeface="Calibri"/>
              </a:rPr>
              <a:t>Browser
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D5037"/>
                </a:solidFill>
                <a:latin typeface="Calibri"/>
              </a:rPr>
              <a:t>Next.js
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
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481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0" dirty="0">
                <a:solidFill>
                  <a:srgbClr val="A8A49C"/>
                </a:solidFill>
                <a:latin typeface="Calibri"/>
              </a:rPr>
              <a:t>X-API-Key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860"/>
                </a:solidFill>
                <a:latin typeface="Calibri"/>
              </a:rPr>
              <a:t>Document Ingestion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D5037"/>
                </a:solidFill>
                <a:latin typeface="Calibri"/>
              </a:rPr>
              <a:t>Extract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78892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D5037"/>
                </a:solidFill>
                <a:latin typeface="Calibri"/>
              </a:rPr>
              <a:t>Chunk (500 tok)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78892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D5037"/>
                </a:solidFill>
                <a:latin typeface="Calibri"/>
              </a:rPr>
              <a:t>Embed (MiniLM)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78892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D5037"/>
                </a:solidFill>
                <a:latin typeface="Calibri"/>
              </a:rPr>
              <a:t>Store </a:t>
            </a:r>
            <a:r>
              <a:rPr sz="1100" b="1" dirty="0" err="1">
                <a:solidFill>
                  <a:srgbClr val="1D5037"/>
                </a:solidFill>
                <a:latin typeface="Calibri"/>
              </a:rPr>
              <a:t>ChromaDB</a:t>
            </a:r>
            <a:r>
              <a:rPr sz="1100" b="1" dirty="0">
                <a:solidFill>
                  <a:srgbClr val="1D5037"/>
                </a:solidFill>
                <a:latin typeface="Calibri"/>
              </a:rPr>
              <a:t> + </a:t>
            </a:r>
            <a:r>
              <a:rPr sz="1100" b="1" dirty="0" err="1">
                <a:solidFill>
                  <a:srgbClr val="1D5037"/>
                </a:solidFill>
                <a:latin typeface="Calibri"/>
              </a:rPr>
              <a:t>chunks.json</a:t>
            </a:r>
            <a:endParaRPr sz="1100" b="1" dirty="0">
              <a:solidFill>
                <a:srgbClr val="1D5037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10607040" cy="22860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860"/>
                </a:solidFill>
                <a:latin typeface="Calibri"/>
              </a:rPr>
              <a:t>Hybrid Retrieval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22191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Bi-Encoder
(ChromaDB top-20)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9776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822191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BM25 Keyword
(top-20)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9776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822191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RRF
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9776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822191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Cross-Encoder
Rerank → top-5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10607040" cy="22860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4681728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A1A18"/>
                </a:solidFill>
                <a:latin typeface="Calibri"/>
              </a:rPr>
              <a:t>Build Prompt
+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828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681728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Groq LLM
Pass 1: Generate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828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681728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Groq LLM
Pass 2: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828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681728"/>
            <a:ext cx="2468880" cy="658368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Redact PII
→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4-Stage Hybrid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2697480" cy="502920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EB"/>
                </a:solidFill>
                <a:latin typeface="Calibri"/>
              </a:rPr>
              <a:t>Stage 1A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1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Bi-Encoder
Vector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578608"/>
            <a:ext cx="23317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69748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Query → 384-dim vector via all-MiniLM-L6-v2
Cosine distance search in ChromaDB
Returns top-20 chunks (distance ≤ 1.35)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463040"/>
            <a:ext cx="2697480" cy="502920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66744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EB"/>
                </a:solidFill>
                <a:latin typeface="Calibri"/>
              </a:rPr>
              <a:t>Stage 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187451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BM25
Keyword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6744" y="2578608"/>
            <a:ext cx="23317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269748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Query tokenised and matched word-by-word
BM25Okapi scores across all chunks.json
Returns top-20 keyword-matched chunks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463040"/>
            <a:ext cx="2697480" cy="502920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4536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EB"/>
                </a:solidFill>
                <a:latin typeface="Calibri"/>
              </a:rPr>
              <a:t>Stage 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187451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RRF
Fusion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74536" y="2578608"/>
            <a:ext cx="23317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269748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Reciprocal Rank Fusion merges both lists
Score = Σ 1/(k + rank) for each chunk ID
Deduplicates and re-orders by combined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463040"/>
            <a:ext cx="2697480" cy="5029200"/>
          </a:xfrm>
          <a:prstGeom prst="roundRect">
            <a:avLst>
              <a:gd name="adj" fmla="val 6000"/>
            </a:avLst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EB"/>
                </a:solidFill>
                <a:latin typeface="Calibri"/>
              </a:rPr>
              <a:t>Stage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1874519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Cross-Encoder
Reranking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2578608"/>
            <a:ext cx="23317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2328" y="269748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Top-20 RRF candidates re-scored
Cross-encoder directly compares query + chunk text
Final top-5 most relevant chunks returned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281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860"/>
                </a:solidFill>
                <a:latin typeface="Calibri"/>
              </a:rPr>
              <a:t>Why combine both methods?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6080760"/>
            <a:ext cx="3657600" cy="47548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612648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5037"/>
                </a:solidFill>
                <a:latin typeface="Calibri"/>
              </a:rPr>
              <a:t>Vector search: excels at semantic meaning — finds 'onboarding process' when user types 'new hire steps'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6080760"/>
            <a:ext cx="3657600" cy="47548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0288" y="612648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5037"/>
                </a:solidFill>
                <a:latin typeface="Calibri"/>
              </a:rPr>
              <a:t>BM25: excels at exact terms — finds product codes, names, IDs that vector search may miss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6080760"/>
            <a:ext cx="3657600" cy="47548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76488" y="612648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5037"/>
                </a:solidFill>
                <a:latin typeface="Calibri"/>
              </a:rPr>
              <a:t>Cross-encoder: most accurate but slow — applied only to the small fused candidate set for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EB"/>
                </a:solidFill>
                <a:latin typeface="Calibri"/>
              </a:rPr>
              <a:t>LLM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Two-Pass Verified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07008"/>
            <a:ext cx="10515600" cy="32004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148840" cy="46634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Retrieve
Top-5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16352"/>
            <a:ext cx="182880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1901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Cross-encoder provides the 5 most relevant text chunks from the document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5224" y="1554480"/>
            <a:ext cx="2148840" cy="466344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72384" y="1664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E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121408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
Grounded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2384" y="2816352"/>
            <a:ext cx="182880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72384" y="2907792"/>
            <a:ext cx="1901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Strict prompt template: answer ONLY from the context below — no general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76088" y="1554480"/>
            <a:ext cx="2148840" cy="466344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13248" y="1664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EB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121408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Pass 1:
Generate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3248" y="2816352"/>
            <a:ext cx="182880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248" y="2907792"/>
            <a:ext cx="1901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Groq llama-3.3-70b-versatile generates an initial answer from the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6952" y="1554480"/>
            <a:ext cx="2148840" cy="466344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54112" y="1664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E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121408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Pass 2:
Verify Faithfulness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816352"/>
            <a:ext cx="182880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2907792"/>
            <a:ext cx="1901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Second LLM call checks: is every claim in the answer supported by the chunks?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26517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7816" y="1554480"/>
            <a:ext cx="2148840" cy="46634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94976" y="1664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EB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4976" y="2121408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Redact &amp;
Return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94976" y="2816352"/>
            <a:ext cx="182880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94976" y="2907792"/>
            <a:ext cx="1901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PII regex scans the final answer; response includes answer + citations + latency_ms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35040"/>
            <a:ext cx="10972800" cy="54864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2ECE0"/>
                </a:solidFill>
                <a:latin typeface="Calibri"/>
              </a:rPr>
              <a:t>Why two passes?  A single LLM call can still produce fluent-but-wrong answers. The verification pass acts as an automated fact-checker, rejecting answers not fully supported by the retrieved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1D5037"/>
                </a:solidFill>
                <a:latin typeface="Calibri"/>
              </a:rPr>
              <a:t>1</a:t>
            </a:r>
            <a:r>
              <a:rPr lang="en-IN" sz="3000" b="1" i="0" dirty="0">
                <a:solidFill>
                  <a:srgbClr val="1D5037"/>
                </a:solidFill>
                <a:latin typeface="Calibri"/>
              </a:rPr>
              <a:t>2</a:t>
            </a:r>
            <a:r>
              <a:rPr sz="3000" b="1" i="0" dirty="0">
                <a:solidFill>
                  <a:srgbClr val="1D5037"/>
                </a:solidFill>
                <a:latin typeface="Calibri"/>
              </a:rPr>
              <a:t> Production-Grade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269748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6276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Multi-Format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11680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PDF, DOCX, TXT, CSV, JSON, 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44752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444752"/>
            <a:ext cx="269748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6276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Hybrid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011680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Vector + BM25 + RRF + Cross-Encoder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1444752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9944" y="1444752"/>
            <a:ext cx="2697480" cy="64008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6276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Two-Pass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Anti-hallucination LLM fact-checking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7736" y="1444752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444752"/>
            <a:ext cx="2697480" cy="6400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5752" y="16276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PII Redaction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011680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Email, phone, national ID, credit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163824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163824"/>
            <a:ext cx="2697480" cy="6400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334670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Citation-Backed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730752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Source documents listed per answer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2152" y="3163824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02152" y="3163824"/>
            <a:ext cx="2697480" cy="6400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0168" y="334670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Chat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3730752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Download as .docx or .xlsx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3163824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9944" y="3163824"/>
            <a:ext cx="2697480" cy="64008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334670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Re-Index Endpoint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30752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Clear + rebuild vector DB on demand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17736" y="3163824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17736" y="3163824"/>
            <a:ext cx="2697480" cy="64008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45752" y="334670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Evaluation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3730752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Recall@K, Grounding, Latency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882896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" y="4882896"/>
            <a:ext cx="2697480" cy="6400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" y="506577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API Key Auth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449824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X-API-Key header on all 7 endpoints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02152" y="4882896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502152" y="4882896"/>
            <a:ext cx="2697480" cy="64008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30168" y="506577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Audit Logging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0168" y="5449824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Full query/answer log to JSON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9944" y="4882896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9944" y="4882896"/>
            <a:ext cx="2697480" cy="64008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60" y="506577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Greeting Handling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449824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Smart shortcut for hi/who are you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17736" y="4882896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317736" y="4882896"/>
            <a:ext cx="2697480" cy="64008"/>
          </a:xfrm>
          <a:prstGeom prst="rect">
            <a:avLst/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45752" y="506577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8"/>
                </a:solidFill>
                <a:latin typeface="Calibri"/>
              </a:rPr>
              <a:t>Docker Deployment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5752" y="5449824"/>
            <a:ext cx="24414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0"/>
                </a:solidFill>
                <a:latin typeface="Calibri"/>
              </a:rPr>
              <a:t>One-command containerised startup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D5C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D5C"/>
                </a:solidFill>
                <a:latin typeface="Calibri"/>
              </a:rPr>
              <a:t>Full-Stack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3611880" cy="41148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Next.js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328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54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181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Axios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44475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71416" y="1444752"/>
            <a:ext cx="3611880" cy="41148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8576" y="15087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402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5328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Pydantic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28254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python-dotenv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1181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CORS Middleware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144475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48472" y="1444752"/>
            <a:ext cx="3611880" cy="41148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2" y="15087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sentence-transformers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2402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all-MiniLM-L6-v2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5328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ms-marco CrossEncoder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82549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Groq SDK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1181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llama-3.3-70b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82219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3822192"/>
            <a:ext cx="3611880" cy="41148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8862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2511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ChromaDB (vector 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chunks.json (BM25 corpus)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103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chat_logs.json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029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File system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71416" y="382219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71416" y="3822192"/>
            <a:ext cx="3611880" cy="41148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08576" y="38862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432511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pypdf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46177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python-docx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49103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openpyxl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52029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pandas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54955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rank-bm25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48472" y="3822192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48472" y="3822192"/>
            <a:ext cx="3611880" cy="41148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85632" y="38862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32511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Docker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46177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Docker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49103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Makefile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52029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· PowerShell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API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7 REST Endpoints  ·  All Protected by X-API-Key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10698480" cy="38404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35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4356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938528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842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8424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Upload document (PDF / DOCX / TXT / CSV / JSON / MD)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48716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2596896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6426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/reindex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4261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Clear ChromaDB + chunks.json and rebuild from disk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4553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3255264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009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00984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Ask a question — returns answer, citations, latency_ms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0390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913632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593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959352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Semantic search — returns raw ranked chunks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6227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177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617720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Compute Recall@K, Citation Coverage, Grounding, 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2064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1520" y="5230368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276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/export/docx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276088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Export full chat history as a formatted .docx 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77900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1520" y="5888736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93445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5C"/>
                </a:solidFill>
                <a:latin typeface="Calibri"/>
              </a:rPr>
              <a:t>/export/excel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934456"/>
            <a:ext cx="6583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Export full chat history as a .xlsx spreadsheet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446520"/>
            <a:ext cx="10698480" cy="24688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D5037"/>
                </a:solidFill>
                <a:latin typeface="Calibri"/>
              </a:rPr>
              <a:t>All requests must include the  X-API-Key  header. Invalid or missing keys return HTTP 401 Unauthorized.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EB"/>
                </a:solidFill>
                <a:latin typeface="Calibri"/>
              </a:rPr>
              <a:t>SECURITY &amp; ETHICAL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Built for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07008"/>
            <a:ext cx="10515600" cy="32004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API Key
Authentication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237744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4871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All 7 endpoints require X-API-Key. Keys stored in .env files — never in source code or Docker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55448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1416" y="155448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7190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PII Redaction
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237744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8" y="24871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4 regex patterns: email, phone (+91 / 10-digit), 12-digit Aadhaar-style IDs, credit/debit card numbers → [REDACTED]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155448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48472" y="155448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13064" y="17190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Anti-Hallucination
Guardrails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3064" y="237744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24871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Strict prompt forbids answers outside the retrieved context. Two-pass LLM verification rejects unsupported claims.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88620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0507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Audit Logging
&amp;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70916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8188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Every query, answer, cited sources, chunk IDs, and latency written to logs/chat_logs.json with timestamp.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71416" y="388620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6008" y="40507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Ethical AI
Principles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470916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6008" y="48188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Grounded answers only · PII auto-redacted · Transparent citations · System states when no answer is found.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48472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1E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48472" y="3886200"/>
            <a:ext cx="3611880" cy="54864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13064" y="40507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Docker Secret
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064" y="4709160"/>
            <a:ext cx="3246120" cy="228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13064" y="481888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EB"/>
                </a:solidFill>
                <a:latin typeface="Calibri"/>
              </a:rPr>
              <a:t>.env files listed in .dockerignore — secrets never baked into images. CORS origins configurable per environment.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Automated Evaluation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2697480" cy="50292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Recall @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18"/>
                </a:solidFill>
                <a:latin typeface="Calibri"/>
              </a:rPr>
              <a:t>Fraction of queries where at least one relevant chunk was retrieved in the top-K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hit / total_queries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444752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02152" y="1444752"/>
            <a:ext cx="2697480" cy="50292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15087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Citation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1031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18"/>
                </a:solidFill>
                <a:latin typeface="Calibri"/>
              </a:rPr>
              <a:t>Average number of distinct source documents cited per answer — measures breadth of retrieval.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2" y="393192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mean(len(citations))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444752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9944" y="1444752"/>
            <a:ext cx="2697480" cy="50292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15087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Answer 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1031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Word-level token overlap between the generated answer and the retrieved context chunks.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7104" y="393192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intersection(answer∩chunks) / len(answer)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444752"/>
            <a:ext cx="2697480" cy="365760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17736" y="1444752"/>
            <a:ext cx="2697480" cy="50292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54896" y="15087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Avg Latency (ms)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1031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8"/>
                </a:solidFill>
                <a:latin typeface="Calibri"/>
              </a:rPr>
              <a:t>Mean end-to-end response time per query, logged automatically on every /ask call.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393192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mean(latency_ms)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44068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5037"/>
                </a:solidFill>
                <a:latin typeface="Calibri"/>
              </a:rPr>
              <a:t>How to Run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3387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8"/>
                </a:solidFill>
                <a:latin typeface="Calibri"/>
              </a:rPr>
              <a:t>cd server  →  python tools/eval_report.py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447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Output: exports/eval_report.png  (bar chart with all 4 metrics)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D5C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D5C"/>
                </a:solidFill>
                <a:latin typeface="Calibri"/>
              </a:rPr>
              <a:t>3 Ways to Run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3611880" cy="507492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3611880" cy="59436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Option A
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221992"/>
            <a:ext cx="3273552" cy="3200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Development /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697480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cd server &amp;&amp; pip install -r 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502152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uvicorn api.main:app --reload --port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4306824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cd client &amp;&amp; npm install &amp;&amp; npm run 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5111496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Open  http://localhost:3000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444752"/>
            <a:ext cx="3611880" cy="507492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71416" y="1444752"/>
            <a:ext cx="3611880" cy="59436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Option B
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Makefile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36008" y="2221992"/>
            <a:ext cx="3273552" cy="3200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Standard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2697480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make run        # Start both backend + 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3502152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make reindex    # Rebuild vector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6008" y="4306824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make eval       # Run evaluation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8" y="5111496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make docker-up  # Start Docker containers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1444752"/>
            <a:ext cx="3611880" cy="507492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48472" y="1444752"/>
            <a:ext cx="3611880" cy="59436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13064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Option C
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3064" y="2221992"/>
            <a:ext cx="3273552" cy="320040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D5037"/>
                </a:solidFill>
                <a:latin typeface="Calibri"/>
              </a:rPr>
              <a:t>Production /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13064" y="2697480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docker-compose build   # Build images (~10 min)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13064" y="3502152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docker-compose up -d   # Start containers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3064" y="4306824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docker-compose logs -f # Stream live logs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3064" y="5111496"/>
            <a:ext cx="3273552" cy="685800"/>
          </a:xfrm>
          <a:prstGeom prst="roundRect">
            <a:avLst>
              <a:gd name="adj" fmla="val 6000"/>
            </a:avLst>
          </a:prstGeom>
          <a:solidFill>
            <a:srgbClr val="E8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0">
                <a:solidFill>
                  <a:srgbClr val="1A1A18"/>
                </a:solidFill>
                <a:latin typeface="Calibri"/>
              </a:rPr>
              <a:t>docker-compose down    # Stop and clean 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6126479"/>
            <a:ext cx="10698480" cy="29260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D5037"/>
                </a:solidFill>
                <a:latin typeface="Calibri"/>
              </a:rPr>
              <a:t>Required .env files:  server/.env  →  GROQ_API_KEY + API_KEY  ·  client/.env  →  NEXT_PUBLIC_API_KEY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Assignment Requirements — All Fulfilled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72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8"/>
                </a:solidFill>
                <a:latin typeface="Calibri"/>
              </a:rPr>
              <a:t>FastAPI backend with Pydantic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385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Multi-format document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3230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597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Chunking with source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2608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535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Vector embeddings (all-MiniLM-L6-v2)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1985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47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18"/>
                </a:solidFill>
                <a:latin typeface="Calibri"/>
              </a:rPr>
              <a:t>ChromaDB</a:t>
            </a:r>
            <a:r>
              <a:rPr sz="1200" b="0" i="0" dirty="0">
                <a:solidFill>
                  <a:srgbClr val="1A1A18"/>
                </a:solidFill>
                <a:latin typeface="Calibri"/>
              </a:rPr>
              <a:t> persistent vector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1363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POST /search semantic search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074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348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POST /ask with citations +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0118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286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POST /reindex — clear &amp; rebuild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9496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223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Export to DOCX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88873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9161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Export to Excel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44475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472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GET /eval evaluation endpoint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93852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965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8"/>
                </a:solidFill>
                <a:latin typeface="Calibri"/>
              </a:rPr>
              <a:t>API Key auth on all 7 endpoints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43230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459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PII redaction — 4 pattern types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92608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Chat logging with timestamps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41985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447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Evaluation chart (eval_report.png)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91363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9410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Next.js + TypeScript + Tailwind CSS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407408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434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Document upload via frontend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90118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9286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18"/>
                </a:solidFill>
                <a:latin typeface="Calibri"/>
              </a:rPr>
              <a:t>Docker </a:t>
            </a:r>
            <a:r>
              <a:rPr sz="1200" b="0" i="0" dirty="0" err="1">
                <a:solidFill>
                  <a:srgbClr val="1A1A18"/>
                </a:solidFill>
                <a:latin typeface="Calibri"/>
              </a:rPr>
              <a:t>containerisation</a:t>
            </a:r>
            <a:endParaRPr sz="1200" b="0" i="0" dirty="0">
              <a:solidFill>
                <a:srgbClr val="1A1A18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63640" y="539496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4223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8"/>
                </a:solidFill>
                <a:latin typeface="Calibri"/>
              </a:rPr>
              <a:t>Root README with architecture diagram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88873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916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8"/>
                </a:solidFill>
                <a:latin typeface="Calibri"/>
              </a:rPr>
              <a:t>Makefile + PowerShell scripts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1444752"/>
            <a:ext cx="27432" cy="4937760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692640" y="202175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20 / 20
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49C"/>
                </a:solidFill>
                <a:latin typeface="Calibri"/>
              </a:rP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5037"/>
                </a:solidFill>
                <a:latin typeface="Calibri"/>
              </a:rPr>
              <a:t>How to Use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0698480" cy="27432"/>
          </a:xfrm>
          <a:prstGeom prst="rect">
            <a:avLst/>
          </a:prstGeom>
          <a:solidFill>
            <a:srgbClr val="DD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148840" cy="475488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25880" y="16916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Upload
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82112"/>
            <a:ext cx="1828800" cy="2286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Click 'Upload Document' in the sidebar.
Supported: PDF, DOCX, TXT, CSV, JSON, 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5661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5224" y="1554480"/>
            <a:ext cx="2148840" cy="475488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66744" y="16916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51460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Re-Index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2384" y="3182112"/>
            <a:ext cx="1828800" cy="2286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72384" y="3291840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Click 'Re-Index' to rebuild ChromaDB.
Run after any new uploads.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35661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76088" y="1554480"/>
            <a:ext cx="2148840" cy="475488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07608" y="16916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51460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Ask a
Question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3248" y="3182112"/>
            <a:ext cx="1828800" cy="22860"/>
          </a:xfrm>
          <a:prstGeom prst="rect">
            <a:avLst/>
          </a:prstGeom>
          <a:solidFill>
            <a:srgbClr val="1D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248" y="3291840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Type your question in the chat input.
The system searches all indexed documents.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5661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6952" y="1554480"/>
            <a:ext cx="2148840" cy="475488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48472" y="16916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51460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View Answer
+ Citations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3182112"/>
            <a:ext cx="1828800" cy="2286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3291840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Answer appears with source document names.
Toggle JSON to see raw retrieved chunks.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35661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037"/>
                </a:solidFill>
                <a:latin typeface="Calibr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7816" y="1554480"/>
            <a:ext cx="2148840" cy="4754880"/>
          </a:xfrm>
          <a:prstGeom prst="roundRect">
            <a:avLst>
              <a:gd name="adj" fmla="val 6000"/>
            </a:avLst>
          </a:prstGeom>
          <a:solidFill>
            <a:srgbClr val="FAF7F0"/>
          </a:solidFill>
          <a:ln w="12700">
            <a:solidFill>
              <a:srgbClr val="DD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689336" y="16916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4976" y="251460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8"/>
                </a:solidFill>
                <a:latin typeface="Calibri"/>
              </a:rPr>
              <a:t>Export
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94976" y="3182112"/>
            <a:ext cx="1828800" cy="2286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94976" y="3291840"/>
            <a:ext cx="1901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860"/>
                </a:solidFill>
                <a:latin typeface="Calibri"/>
              </a:rPr>
              <a:t>Click 'Export DOCX' or 'Export Excel'.
Downloads full conversation with all answers.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53328"/>
            <a:ext cx="10698480" cy="292608"/>
          </a:xfrm>
          <a:prstGeom prst="roundRect">
            <a:avLst>
              <a:gd name="adj" fmla="val 6000"/>
            </a:avLst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D5037"/>
                </a:solidFill>
                <a:latin typeface="Calibri"/>
              </a:rPr>
              <a:t>Access the app at  http://localhost:3000  after running  make run  or  docker-compose up -d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2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45752" y="0"/>
            <a:ext cx="2743200" cy="6858000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8988552" cy="50292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EB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07008"/>
            <a:ext cx="8503920" cy="32004"/>
          </a:xfrm>
          <a:prstGeom prst="rect">
            <a:avLst/>
          </a:prstGeom>
          <a:solidFill>
            <a:srgbClr val="245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4538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4-stage hybrid retrieval — bi-encoder + BM25 + RRF + cross-encoder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39112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0756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Two-pass LLM verification to eliminate hallucination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60904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6974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Automated PII redaction before every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31927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20 / 20 assignment requirements fulfilled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04488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94106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Full-stack product: FastAPI backend + Next.js 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562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Docker + Makefile for one-command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48072"/>
            <a:ext cx="347472" cy="365760"/>
          </a:xfrm>
          <a:prstGeom prst="roundRect">
            <a:avLst>
              <a:gd name="adj" fmla="val 6000"/>
            </a:avLst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1846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ECE0"/>
                </a:solidFill>
                <a:latin typeface="Calibri"/>
              </a:rPr>
              <a:t>Evaluation framework with 4 automated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1645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
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4352" y="3337560"/>
            <a:ext cx="2286000" cy="27432"/>
          </a:xfrm>
          <a:prstGeom prst="rect">
            <a:avLst/>
          </a:prstGeom>
          <a:solidFill>
            <a:srgbClr val="F2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4352" y="3456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ECE0"/>
                </a:solidFill>
                <a:latin typeface="Calibri"/>
              </a:rPr>
              <a:t>Questions welcome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397763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EB"/>
                </a:solidFill>
                <a:latin typeface="Calibri"/>
              </a:rPr>
              <a:t>Vivek Pramanik
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1820</Words>
  <Application>Microsoft Office PowerPoint</Application>
  <PresentationFormat>Custom</PresentationFormat>
  <Paragraphs>358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vivekpramanik.dev@gmail.com</cp:lastModifiedBy>
  <cp:revision>9</cp:revision>
  <dcterms:created xsi:type="dcterms:W3CDTF">2013-01-27T09:14:16Z</dcterms:created>
  <dcterms:modified xsi:type="dcterms:W3CDTF">2026-05-21T06:56:28Z</dcterms:modified>
  <cp:category/>
</cp:coreProperties>
</file>